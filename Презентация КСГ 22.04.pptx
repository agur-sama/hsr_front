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80" r:id="rId4"/>
    <p:sldId id="264" r:id="rId5"/>
    <p:sldId id="281" r:id="rId6"/>
    <p:sldId id="286" r:id="rId7"/>
    <p:sldId id="287" r:id="rId8"/>
    <p:sldId id="293" r:id="rId9"/>
    <p:sldId id="288" r:id="rId10"/>
    <p:sldId id="292" r:id="rId11"/>
    <p:sldId id="294" r:id="rId12"/>
    <p:sldId id="295" r:id="rId13"/>
    <p:sldId id="284" r:id="rId14"/>
    <p:sldId id="282" r:id="rId15"/>
    <p:sldId id="283" r:id="rId16"/>
    <p:sldId id="296" r:id="rId17"/>
    <p:sldId id="300" r:id="rId18"/>
    <p:sldId id="307" r:id="rId19"/>
    <p:sldId id="308" r:id="rId20"/>
    <p:sldId id="309" r:id="rId21"/>
    <p:sldId id="303" r:id="rId22"/>
    <p:sldId id="304" r:id="rId23"/>
    <p:sldId id="301" r:id="rId24"/>
    <p:sldId id="311" r:id="rId25"/>
    <p:sldId id="302" r:id="rId26"/>
    <p:sldId id="312" r:id="rId27"/>
    <p:sldId id="305" r:id="rId28"/>
    <p:sldId id="314" r:id="rId29"/>
    <p:sldId id="313" r:id="rId30"/>
    <p:sldId id="315" r:id="rId31"/>
    <p:sldId id="316" r:id="rId32"/>
    <p:sldId id="317" r:id="rId33"/>
    <p:sldId id="318" r:id="rId34"/>
    <p:sldId id="320" r:id="rId35"/>
    <p:sldId id="321" r:id="rId36"/>
    <p:sldId id="290" r:id="rId37"/>
    <p:sldId id="291" r:id="rId38"/>
    <p:sldId id="289" r:id="rId39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CBE9"/>
    <a:srgbClr val="91BCE3"/>
    <a:srgbClr val="8BB8E1"/>
    <a:srgbClr val="9EC4E6"/>
    <a:srgbClr val="FFFFFF"/>
    <a:srgbClr val="1A4368"/>
    <a:srgbClr val="101C32"/>
    <a:srgbClr val="132F49"/>
    <a:srgbClr val="1B456B"/>
    <a:srgbClr val="2358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chemeClr val="tx1"/>
                </a:solidFill>
                <a:latin typeface="Raleway Black"/>
              </a:rPr>
              <a:t>Строительно-монтажные</a:t>
            </a:r>
            <a:r>
              <a:rPr lang="ru-RU" baseline="0" dirty="0">
                <a:solidFill>
                  <a:schemeClr val="tx1"/>
                </a:solidFill>
                <a:latin typeface="Raleway Black"/>
              </a:rPr>
              <a:t> работы </a:t>
            </a:r>
            <a:endParaRPr lang="ru-RU" dirty="0">
              <a:solidFill>
                <a:schemeClr val="tx1"/>
              </a:solidFill>
              <a:latin typeface="Raleway Black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24575176150415493"/>
          <c:y val="9.4313293513078919E-2"/>
          <c:w val="0.74121667553581216"/>
          <c:h val="0.7779157004898611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Январь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B234-40C2-8E99-C05D91529E1B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B234-40C2-8E99-C05D91529E1B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234-40C2-8E99-C05D91529E1B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B234-40C2-8E99-C05D91529E1B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234-40C2-8E99-C05D91529E1B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B234-40C2-8E99-C05D91529E1B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234-40C2-8E99-C05D91529E1B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B234-40C2-8E99-C05D91529E1B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234-40C2-8E99-C05D91529E1B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B234-40C2-8E99-C05D91529E1B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B-95C7-4053-8CC8-5CA2CFAB719F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Лист1!$B$2:$B$12</c:f>
              <c:numCache>
                <c:formatCode>General</c:formatCode>
                <c:ptCount val="11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4.5</c:v>
                </c:pt>
                <c:pt idx="9">
                  <c:v>4</c:v>
                </c:pt>
                <c:pt idx="10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34-40C2-8E99-C05D91529E1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Февраль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B234-40C2-8E99-C05D91529E1B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0-B234-40C2-8E99-C05D91529E1B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B234-40C2-8E99-C05D91529E1B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E-B234-40C2-8E99-C05D91529E1B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B234-40C2-8E99-C05D91529E1B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B234-40C2-8E99-C05D91529E1B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B234-40C2-8E99-C05D91529E1B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A-B234-40C2-8E99-C05D91529E1B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B234-40C2-8E99-C05D91529E1B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C-95C7-4053-8CC8-5CA2CFAB719F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Лист1!$C$2:$C$12</c:f>
              <c:numCache>
                <c:formatCode>General</c:formatCode>
                <c:ptCount val="11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0.09</c:v>
                </c:pt>
                <c:pt idx="9">
                  <c:v>2.8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34-40C2-8E99-C05D91529E1B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Март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B234-40C2-8E99-C05D91529E1B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8-B234-40C2-8E99-C05D91529E1B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B234-40C2-8E99-C05D91529E1B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6-B234-40C2-8E99-C05D91529E1B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B234-40C2-8E99-C05D91529E1B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4-B234-40C2-8E99-C05D91529E1B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B234-40C2-8E99-C05D91529E1B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2-B234-40C2-8E99-C05D91529E1B}"/>
              </c:ext>
            </c:extLst>
          </c:dPt>
          <c:dPt>
            <c:idx val="8"/>
            <c:invertIfNegative val="0"/>
            <c:bubble3D val="0"/>
            <c:spPr>
              <a:solidFill>
                <a:srgbClr val="A9CBE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D-95C7-4053-8CC8-5CA2CFAB719F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B234-40C2-8E99-C05D91529E1B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Лист1!$D$2:$D$12</c:f>
              <c:numCache>
                <c:formatCode>General</c:formatCode>
                <c:ptCount val="11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7.8</c:v>
                </c:pt>
                <c:pt idx="6">
                  <c:v>9</c:v>
                </c:pt>
                <c:pt idx="7">
                  <c:v>2</c:v>
                </c:pt>
                <c:pt idx="8">
                  <c:v>4.8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34-40C2-8E99-C05D91529E1B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Апрель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0-B234-40C2-8E99-C05D91529E1B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B234-40C2-8E99-C05D91529E1B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E-B234-40C2-8E99-C05D91529E1B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B234-40C2-8E99-C05D91529E1B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C-B234-40C2-8E99-C05D91529E1B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B234-40C2-8E99-C05D91529E1B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A-B234-40C2-8E99-C05D91529E1B}"/>
              </c:ext>
            </c:extLst>
          </c:dPt>
          <c:dPt>
            <c:idx val="7"/>
            <c:invertIfNegative val="0"/>
            <c:bubble3D val="0"/>
            <c:spPr>
              <a:solidFill>
                <a:srgbClr val="91BCE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E-95C7-4053-8CC8-5CA2CFAB719F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B234-40C2-8E99-C05D91529E1B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B234-40C2-8E99-C05D91529E1B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Лист1!$E$2:$E$12</c:f>
              <c:numCache>
                <c:formatCode>General</c:formatCode>
                <c:ptCount val="11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7</c:v>
                </c:pt>
                <c:pt idx="4">
                  <c:v>7</c:v>
                </c:pt>
                <c:pt idx="5">
                  <c:v>0</c:v>
                </c:pt>
                <c:pt idx="6">
                  <c:v>0</c:v>
                </c:pt>
                <c:pt idx="7">
                  <c:v>8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34-40C2-8E99-C05D91529E1B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Май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B234-40C2-8E99-C05D91529E1B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8-B234-40C2-8E99-C05D91529E1B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B234-40C2-8E99-C05D91529E1B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6-B234-40C2-8E99-C05D91529E1B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B234-40C2-8E99-C05D91529E1B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4-B234-40C2-8E99-C05D91529E1B}"/>
              </c:ext>
            </c:extLst>
          </c:dPt>
          <c:dPt>
            <c:idx val="6"/>
            <c:invertIfNegative val="0"/>
            <c:bubble3D val="0"/>
            <c:spPr>
              <a:solidFill>
                <a:srgbClr val="66A2D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F-95C7-4053-8CC8-5CA2CFAB719F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B234-40C2-8E99-C05D91529E1B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B234-40C2-8E99-C05D91529E1B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B234-40C2-8E99-C05D91529E1B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Лист1!$F$2:$F$12</c:f>
              <c:numCache>
                <c:formatCode>General</c:formatCode>
                <c:ptCount val="11"/>
                <c:pt idx="0">
                  <c:v>8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2.8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234-40C2-8E99-C05D91529E1B}"/>
            </c:ext>
          </c:extLst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Июнь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8-95C7-4053-8CC8-5CA2CFAB719F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7-95C7-4053-8CC8-5CA2CFAB719F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6-95C7-4053-8CC8-5CA2CFAB719F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5-95C7-4053-8CC8-5CA2CFAB719F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4-95C7-4053-8CC8-5CA2CFAB719F}"/>
              </c:ext>
            </c:extLst>
          </c:dPt>
          <c:dPt>
            <c:idx val="5"/>
            <c:invertIfNegative val="0"/>
            <c:bubble3D val="0"/>
            <c:spPr>
              <a:solidFill>
                <a:srgbClr val="418BC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0-95C7-4053-8CC8-5CA2CFAB719F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2-B234-40C2-8E99-C05D91529E1B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B234-40C2-8E99-C05D91529E1B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B234-40C2-8E99-C05D91529E1B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B234-40C2-8E99-C05D91529E1B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Лист1!$G$2:$G$12</c:f>
              <c:numCache>
                <c:formatCode>General</c:formatCode>
                <c:ptCount val="11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4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234-40C2-8E99-C05D91529E1B}"/>
            </c:ext>
          </c:extLst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Июль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6-95C7-4053-8CC8-5CA2CFAB719F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5-95C7-4053-8CC8-5CA2CFAB719F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4-95C7-4053-8CC8-5CA2CFAB719F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3-95C7-4053-8CC8-5CA2CFAB719F}"/>
              </c:ext>
            </c:extLst>
          </c:dPt>
          <c:dPt>
            <c:idx val="4"/>
            <c:invertIfNegative val="0"/>
            <c:bubble3D val="0"/>
            <c:spPr>
              <a:solidFill>
                <a:srgbClr val="2C70A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1-95C7-4053-8CC8-5CA2CFAB719F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2-95C7-4053-8CC8-5CA2CFAB719F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F-95C7-4053-8CC8-5CA2CFAB719F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0-95C7-4053-8CC8-5CA2CFAB719F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1-95C7-4053-8CC8-5CA2CFAB719F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E-95C7-4053-8CC8-5CA2CFAB719F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9-95C7-4053-8CC8-5CA2CFAB719F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Лист1!$H$2:$H$12</c:f>
              <c:numCache>
                <c:formatCode>General</c:formatCode>
                <c:ptCount val="11"/>
                <c:pt idx="0">
                  <c:v>0</c:v>
                </c:pt>
                <c:pt idx="1">
                  <c:v>8</c:v>
                </c:pt>
                <c:pt idx="2">
                  <c:v>8</c:v>
                </c:pt>
                <c:pt idx="3">
                  <c:v>0</c:v>
                </c:pt>
                <c:pt idx="4">
                  <c:v>7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A-B234-40C2-8E99-C05D91529E1B}"/>
            </c:ext>
          </c:extLst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Август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4-95C7-4053-8CC8-5CA2CFAB719F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3-95C7-4053-8CC8-5CA2CFAB719F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2-95C7-4053-8CC8-5CA2CFAB719F}"/>
              </c:ext>
            </c:extLst>
          </c:dPt>
          <c:dPt>
            <c:idx val="3"/>
            <c:invertIfNegative val="0"/>
            <c:bubble3D val="0"/>
            <c:spPr>
              <a:solidFill>
                <a:srgbClr val="23588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2-95C7-4053-8CC8-5CA2CFAB719F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8-95C7-4053-8CC8-5CA2CFAB719F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7-95C7-4053-8CC8-5CA2CFAB719F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3-95C7-4053-8CC8-5CA2CFAB719F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F-95C7-4053-8CC8-5CA2CFAB719F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B-95C7-4053-8CC8-5CA2CFAB719F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7-95C7-4053-8CC8-5CA2CFAB719F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A-95C7-4053-8CC8-5CA2CFAB719F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Лист1!$I$2:$I$12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7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F-B234-40C2-8E99-C05D91529E1B}"/>
            </c:ext>
          </c:extLst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Сентябрь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8-95C7-4053-8CC8-5CA2CFAB719F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7-95C7-4053-8CC8-5CA2CFAB719F}"/>
              </c:ext>
            </c:extLst>
          </c:dPt>
          <c:dPt>
            <c:idx val="2"/>
            <c:invertIfNegative val="0"/>
            <c:bubble3D val="0"/>
            <c:spPr>
              <a:solidFill>
                <a:srgbClr val="1A436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3-95C7-4053-8CC8-5CA2CFAB719F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B-95C7-4053-8CC8-5CA2CFAB719F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A-95C7-4053-8CC8-5CA2CFAB719F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9-95C7-4053-8CC8-5CA2CFAB719F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4-95C7-4053-8CC8-5CA2CFAB719F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0-95C7-4053-8CC8-5CA2CFAB719F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C-95C7-4053-8CC8-5CA2CFAB719F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8-95C7-4053-8CC8-5CA2CFAB719F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B-95C7-4053-8CC8-5CA2CFAB719F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Лист1!$J$2:$J$12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9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0-B234-40C2-8E99-C05D91529E1B}"/>
            </c:ext>
          </c:extLst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Октябрь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A-95C7-4053-8CC8-5CA2CFAB719F}"/>
              </c:ext>
            </c:extLst>
          </c:dPt>
          <c:dPt>
            <c:idx val="1"/>
            <c:invertIfNegative val="0"/>
            <c:bubble3D val="0"/>
            <c:spPr>
              <a:solidFill>
                <a:srgbClr val="132F4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4-95C7-4053-8CC8-5CA2CFAB719F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5-95C7-4053-8CC8-5CA2CFAB719F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C-95C7-4053-8CC8-5CA2CFAB719F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E-95C7-4053-8CC8-5CA2CFAB719F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D-95C7-4053-8CC8-5CA2CFAB719F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5-95C7-4053-8CC8-5CA2CFAB719F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1-95C7-4053-8CC8-5CA2CFAB719F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D-95C7-4053-8CC8-5CA2CFAB719F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9-95C7-4053-8CC8-5CA2CFAB719F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C-95C7-4053-8CC8-5CA2CFAB719F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Лист1!$K$2:$K$12</c:f>
              <c:numCache>
                <c:formatCode>General</c:formatCode>
                <c:ptCount val="11"/>
                <c:pt idx="0">
                  <c:v>0</c:v>
                </c:pt>
                <c:pt idx="1">
                  <c:v>2.7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1-B234-40C2-8E99-C05D91529E1B}"/>
            </c:ext>
          </c:extLst>
        </c:ser>
        <c:ser>
          <c:idx val="10"/>
          <c:order val="10"/>
          <c:tx>
            <c:strRef>
              <c:f>Лист1!$L$1</c:f>
              <c:strCache>
                <c:ptCount val="1"/>
                <c:pt idx="0">
                  <c:v>Ноябрь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1C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5-95C7-4053-8CC8-5CA2CFAB719F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9-95C7-4053-8CC8-5CA2CFAB719F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6-95C7-4053-8CC8-5CA2CFAB719F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0-95C7-4053-8CC8-5CA2CFAB719F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1-95C7-4053-8CC8-5CA2CFAB719F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F-95C7-4053-8CC8-5CA2CFAB719F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6-95C7-4053-8CC8-5CA2CFAB719F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2-95C7-4053-8CC8-5CA2CFAB719F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E-95C7-4053-8CC8-5CA2CFAB719F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A-95C7-4053-8CC8-5CA2CFAB719F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D-95C7-4053-8CC8-5CA2CFAB719F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Лист1!$L$2:$L$12</c:f>
              <c:numCache>
                <c:formatCode>General</c:formatCode>
                <c:ptCount val="11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2-B234-40C2-8E99-C05D91529E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44623280"/>
        <c:axId val="944629104"/>
      </c:barChart>
      <c:catAx>
        <c:axId val="9446232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44629104"/>
        <c:crosses val="autoZero"/>
        <c:auto val="1"/>
        <c:lblAlgn val="ctr"/>
        <c:lblOffset val="100"/>
        <c:noMultiLvlLbl val="0"/>
      </c:catAx>
      <c:valAx>
        <c:axId val="9446291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44623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0.24503</cdr:x>
      <cdr:y>0.94966</cdr:y>
    </cdr:from>
    <cdr:to>
      <cdr:x>0.35423</cdr:x>
      <cdr:y>1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2881081" y="5324910"/>
          <a:ext cx="1284000" cy="28225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ru-RU" dirty="0"/>
            <a:t>Январь-Февраль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296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443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130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587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498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914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50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909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684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3661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41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001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Сетевое планирование и управление</a:t>
            </a:r>
            <a:br>
              <a:rPr lang="ru-RU" dirty="0"/>
            </a:br>
            <a:r>
              <a:rPr lang="ru-RU" dirty="0"/>
              <a:t>КСГ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21.04.2026</a:t>
            </a:r>
          </a:p>
        </p:txBody>
      </p:sp>
    </p:spTree>
    <p:extLst>
      <p:ext uri="{BB962C8B-B14F-4D97-AF65-F5344CB8AC3E}">
        <p14:creationId xmlns:p14="http://schemas.microsoft.com/office/powerpoint/2010/main" val="1514100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FACAE-09B1-066B-1FA9-9D90F2D06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87"/>
            <a:ext cx="10515600" cy="1325563"/>
          </a:xfrm>
        </p:spPr>
        <p:txBody>
          <a:bodyPr/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Термины и определения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5F4698-7FC4-4782-962A-F9C554A0C151}"/>
              </a:ext>
            </a:extLst>
          </p:cNvPr>
          <p:cNvSpPr txBox="1"/>
          <p:nvPr/>
        </p:nvSpPr>
        <p:spPr>
          <a:xfrm>
            <a:off x="756745" y="1299261"/>
            <a:ext cx="1037633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36575" algn="just">
              <a:buNone/>
            </a:pPr>
            <a:r>
              <a:rPr lang="ru-RU" b="1" i="1" dirty="0"/>
              <a:t>Проектом</a:t>
            </a:r>
            <a:r>
              <a:rPr lang="ru-RU" dirty="0"/>
              <a:t> называют совокупность работ, направленных на достижение некоторой цели.</a:t>
            </a:r>
          </a:p>
          <a:p>
            <a:pPr marL="0" indent="536575" algn="just">
              <a:buNone/>
            </a:pPr>
            <a:r>
              <a:rPr lang="ru-RU" b="1" i="1" dirty="0"/>
              <a:t>Сетевой график</a:t>
            </a:r>
            <a:r>
              <a:rPr lang="ru-RU" dirty="0"/>
              <a:t> – динамическая модель производственного процесса, отражающая технологическую зависимость и последовательность выполнения комплекса работ, связывающая их свершение во времени с учётом затрат ресурсов и стоимости работ с выделением при этом узких (критических) мест.</a:t>
            </a:r>
          </a:p>
          <a:p>
            <a:pPr indent="536575" algn="just"/>
            <a:r>
              <a:rPr lang="ru-RU" b="1" i="1" dirty="0"/>
              <a:t>Работа</a:t>
            </a:r>
            <a:r>
              <a:rPr lang="ru-RU" dirty="0"/>
              <a:t> – операция, процесс или совокупность процессов, требующих для своего совершения времени и резервов, а также ожидание, пассивный процесс без затрат труда и ресурсов, связанный с соблюдением определенных технологических перерывов (зарядка аккумулятора, нагревание паяльника и т.д.) </a:t>
            </a:r>
          </a:p>
          <a:p>
            <a:pPr marL="0" indent="536575" algn="just">
              <a:buNone/>
            </a:pPr>
            <a:r>
              <a:rPr lang="ru-RU" b="1" i="1" dirty="0"/>
              <a:t>Событие</a:t>
            </a:r>
            <a:r>
              <a:rPr lang="ru-RU" dirty="0"/>
              <a:t> – это четко сформулированный момент начала или завершения одной или нескольких работ. Если событие является результатом нескольких работ, то оно считается совершавшимся в момент окончания работы с наибольшей продолжительностью. Событие обозначается кружком, в котором проставляется его номер. События нумеруются, начиная от 1 – исходного и заканчивая конечным – завершением работ.  </a:t>
            </a:r>
          </a:p>
          <a:p>
            <a:pPr marL="0" indent="536575" algn="just">
              <a:buNone/>
            </a:pPr>
            <a:r>
              <a:rPr lang="ru-RU" b="1" i="1" dirty="0"/>
              <a:t>Исходное (начальное) событие </a:t>
            </a:r>
            <a:r>
              <a:rPr lang="ru-RU" dirty="0"/>
              <a:t>– событие начала производственного процесса, из которого выходит работа.</a:t>
            </a:r>
          </a:p>
          <a:p>
            <a:pPr indent="536575" algn="just"/>
            <a:r>
              <a:rPr lang="ru-RU" b="1" i="1" dirty="0"/>
              <a:t>Завершающее (последующее) событие </a:t>
            </a:r>
            <a:r>
              <a:rPr lang="ru-RU" dirty="0"/>
              <a:t>– событие окончания производственного процесса, событие, в которое входит работа после начального. </a:t>
            </a:r>
          </a:p>
          <a:p>
            <a:pPr marL="0" indent="536575" algn="just">
              <a:buNone/>
            </a:pPr>
            <a:r>
              <a:rPr lang="ru-RU" b="1" i="1" dirty="0"/>
              <a:t>Конечные единицы сетевого графика </a:t>
            </a:r>
            <a:r>
              <a:rPr lang="ru-RU" dirty="0"/>
              <a:t>– «тупиковые» события, из которых нет выходящих работ, но они не являются завершающими</a:t>
            </a:r>
          </a:p>
          <a:p>
            <a:pPr marL="0" indent="536575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1703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07FF6-C4F0-6FCF-4590-70D4BEFA5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659726-6BD9-9250-51CC-63A16149D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87"/>
            <a:ext cx="10515600" cy="1325563"/>
          </a:xfrm>
        </p:spPr>
        <p:txBody>
          <a:bodyPr/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Термины и определения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6F682-FC93-C480-F400-82ABB2FF2F60}"/>
              </a:ext>
            </a:extLst>
          </p:cNvPr>
          <p:cNvSpPr txBox="1"/>
          <p:nvPr/>
        </p:nvSpPr>
        <p:spPr>
          <a:xfrm>
            <a:off x="977462" y="1225689"/>
            <a:ext cx="1037633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36575" algn="just">
              <a:buNone/>
            </a:pPr>
            <a:r>
              <a:rPr lang="ru-RU" b="1" i="1" dirty="0"/>
              <a:t>Оценка времени</a:t>
            </a:r>
            <a:r>
              <a:rPr lang="ru-RU" dirty="0"/>
              <a:t> – ожидаемое расчетное время, необходимое для выполнения каждой работы. </a:t>
            </a:r>
          </a:p>
          <a:p>
            <a:pPr marL="0" indent="536575" algn="just">
              <a:buNone/>
            </a:pPr>
            <a:r>
              <a:rPr lang="ru-RU" b="1" i="1" dirty="0"/>
              <a:t>Продолжительность работы</a:t>
            </a:r>
            <a:r>
              <a:rPr lang="ru-RU" dirty="0"/>
              <a:t> – время, необходимое для реализации работы.</a:t>
            </a:r>
          </a:p>
          <a:p>
            <a:pPr marL="0" indent="536575" algn="just">
              <a:buNone/>
            </a:pPr>
            <a:r>
              <a:rPr lang="ru-RU" b="1" i="1" dirty="0"/>
              <a:t>Условная (фиктивная) работа </a:t>
            </a:r>
            <a:r>
              <a:rPr lang="ru-RU" dirty="0"/>
              <a:t>– работа, не требующая затрат времени, труда, средств. На сети показывается пунктирной линией.</a:t>
            </a:r>
          </a:p>
          <a:p>
            <a:pPr marL="0" indent="536575" algn="just">
              <a:buNone/>
            </a:pPr>
            <a:r>
              <a:rPr lang="ru-RU" b="1" i="1" dirty="0"/>
              <a:t>Самая поздняя дата окончания события </a:t>
            </a:r>
            <a:r>
              <a:rPr lang="ru-RU" dirty="0"/>
              <a:t>– максимально допустимое время между исходным событием и k-м событием при условии неизменности самой   поздней даты окончания завершающего события. </a:t>
            </a:r>
          </a:p>
          <a:p>
            <a:pPr marL="0" indent="536575" algn="just">
              <a:buNone/>
            </a:pPr>
            <a:r>
              <a:rPr lang="ru-RU" b="1" i="1" dirty="0"/>
              <a:t>Самая ранняя дата начала события </a:t>
            </a:r>
            <a:r>
              <a:rPr lang="ru-RU" dirty="0"/>
              <a:t>– минимально необходимое время для выполнения всех работ, предшествующих данному событию. </a:t>
            </a:r>
          </a:p>
          <a:p>
            <a:pPr marL="0" indent="536575" algn="just">
              <a:buNone/>
            </a:pPr>
            <a:r>
              <a:rPr lang="ru-RU" b="1" i="1" dirty="0"/>
              <a:t>Резерв времени S(k)  </a:t>
            </a:r>
            <a:r>
              <a:rPr lang="ru-RU" dirty="0"/>
              <a:t>– разность между сроком реализации самой поздней даты окончания каждого события  и самой ранней датой его начала. Резерв времени обозначается буквой S. </a:t>
            </a:r>
          </a:p>
          <a:p>
            <a:pPr marL="0" indent="536575" algn="just">
              <a:buNone/>
            </a:pPr>
            <a:r>
              <a:rPr lang="ru-RU" b="1" i="1" dirty="0"/>
              <a:t>Путь</a:t>
            </a:r>
            <a:r>
              <a:rPr lang="ru-RU" dirty="0"/>
              <a:t> – непрерывная технологическая последовательность работ (цепь) от начального до завершающего события.</a:t>
            </a:r>
          </a:p>
          <a:p>
            <a:pPr marL="0" indent="536575" algn="just">
              <a:buNone/>
            </a:pPr>
            <a:r>
              <a:rPr lang="ru-RU" b="1" i="1" dirty="0"/>
              <a:t>Критический путь </a:t>
            </a:r>
            <a:r>
              <a:rPr lang="ru-RU" dirty="0"/>
              <a:t>– последовательность событий от начального до завершающего и соединяющих их работ, для которых минимально необходимое время реализации является наибольшим по всем путям, соединяющим эти два события</a:t>
            </a:r>
          </a:p>
        </p:txBody>
      </p:sp>
    </p:spTree>
    <p:extLst>
      <p:ext uri="{BB962C8B-B14F-4D97-AF65-F5344CB8AC3E}">
        <p14:creationId xmlns:p14="http://schemas.microsoft.com/office/powerpoint/2010/main" val="194978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02367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Система сетевого планирования и управления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E7DDC9E-4AE0-FCE6-4BF7-FF51DB46F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53" y="1427931"/>
            <a:ext cx="11183006" cy="5148426"/>
          </a:xfrm>
        </p:spPr>
        <p:txBody>
          <a:bodyPr>
            <a:normAutofit lnSpcReduction="10000"/>
          </a:bodyPr>
          <a:lstStyle/>
          <a:p>
            <a:pPr marL="0" indent="536575">
              <a:buNone/>
            </a:pPr>
            <a:r>
              <a:rPr lang="ru-RU" b="1" dirty="0"/>
              <a:t>ПРИМЕНИМА:</a:t>
            </a:r>
            <a:r>
              <a:rPr lang="ru-RU" dirty="0"/>
              <a:t> для сложных комплексов работ или для таких проектов, где имеется взаимозависимость большого числа задач, требующих привлечения различных специалистов и решения вопросов материально-технического обеспечения. </a:t>
            </a:r>
          </a:p>
          <a:p>
            <a:pPr marL="0" indent="536575">
              <a:buNone/>
            </a:pPr>
            <a:r>
              <a:rPr lang="ru-RU" b="1" dirty="0"/>
              <a:t>ПОЗВОЛЯЕТ:</a:t>
            </a:r>
            <a:endParaRPr lang="ru-RU" dirty="0"/>
          </a:p>
          <a:p>
            <a:r>
              <a:rPr lang="ru-RU" dirty="0"/>
              <a:t>выявлять и мобилизовать резервы времени и все виды ресурсов;</a:t>
            </a:r>
          </a:p>
          <a:p>
            <a:r>
              <a:rPr lang="ru-RU" dirty="0"/>
              <a:t>осуществлять управление производственными процессами с учетом прогнозирования и предупреждения  возможных сбоев в ходе реализации конкретной производственной программы, улучшать технические показатели планируемой программы; </a:t>
            </a:r>
          </a:p>
          <a:p>
            <a:r>
              <a:rPr lang="ru-RU" dirty="0"/>
              <a:t>повышать эффективность менеджмента в целом при четком распределении ответственности между руководителями каждого уровня управления и ответственными исполнителями.</a:t>
            </a:r>
          </a:p>
        </p:txBody>
      </p:sp>
    </p:spTree>
    <p:extLst>
      <p:ext uri="{BB962C8B-B14F-4D97-AF65-F5344CB8AC3E}">
        <p14:creationId xmlns:p14="http://schemas.microsoft.com/office/powerpoint/2010/main" val="22010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A4DBD-7EC9-7DEE-0070-4213DA730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5ABEEA-66AF-E44E-206B-9209C794D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367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Система сетевого планирования и управления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5E5BD33-9A71-FE3F-28D2-A40CF9CB1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53" y="1427931"/>
            <a:ext cx="11183006" cy="5148426"/>
          </a:xfrm>
        </p:spPr>
        <p:txBody>
          <a:bodyPr>
            <a:normAutofit fontScale="92500" lnSpcReduction="20000"/>
          </a:bodyPr>
          <a:lstStyle/>
          <a:p>
            <a:pPr marL="0" indent="536575">
              <a:buNone/>
            </a:pPr>
            <a:r>
              <a:rPr lang="ru-RU" b="1" dirty="0"/>
              <a:t>ВКЛЮЧАЕТ:</a:t>
            </a:r>
          </a:p>
          <a:p>
            <a:pPr lvl="1"/>
            <a:r>
              <a:rPr lang="ru-RU" dirty="0"/>
              <a:t>визуализацию последовательности выполнения мероприятий, моделирование, динамическую перестройку производственных процессов, планирование времени;</a:t>
            </a:r>
            <a:endParaRPr lang="ru-RU" sz="2000" dirty="0"/>
          </a:p>
          <a:p>
            <a:pPr lvl="1"/>
            <a:r>
              <a:rPr lang="ru-RU" dirty="0"/>
              <a:t>сокращение срока производства работ, оптимизацию затрат труда, материально-технических ресурсов;</a:t>
            </a:r>
            <a:endParaRPr lang="ru-RU" sz="2000" dirty="0"/>
          </a:p>
          <a:p>
            <a:pPr lvl="1"/>
            <a:r>
              <a:rPr lang="ru-RU" dirty="0"/>
              <a:t>контроль исполнения разработанных технологий с принятием оперативных управленческих решений.</a:t>
            </a:r>
            <a:endParaRPr lang="ru-RU" sz="2000" dirty="0"/>
          </a:p>
          <a:p>
            <a:pPr marL="0" indent="0">
              <a:buNone/>
            </a:pPr>
            <a:r>
              <a:rPr lang="ru-RU" b="1" dirty="0"/>
              <a:t>Распространены 2 графических метода для планирования времени: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Диаграмма </a:t>
            </a:r>
            <a:r>
              <a:rPr lang="ru-RU" dirty="0" err="1"/>
              <a:t>Гантта</a:t>
            </a:r>
            <a:r>
              <a:rPr lang="ru-RU" dirty="0"/>
              <a:t> (</a:t>
            </a:r>
            <a:r>
              <a:rPr lang="ru-RU" dirty="0" err="1"/>
              <a:t>Gantt</a:t>
            </a:r>
            <a:r>
              <a:rPr lang="ru-RU" dirty="0"/>
              <a:t> </a:t>
            </a:r>
            <a:r>
              <a:rPr lang="ru-RU" dirty="0" err="1"/>
              <a:t>Chart</a:t>
            </a:r>
            <a:r>
              <a:rPr lang="ru-RU" dirty="0"/>
              <a:t>) —ленточный календарный график, названный так в честь Генри </a:t>
            </a:r>
            <a:r>
              <a:rPr lang="ru-RU" dirty="0" err="1"/>
              <a:t>Гантта</a:t>
            </a:r>
            <a:r>
              <a:rPr lang="ru-RU" dirty="0"/>
              <a:t>, американского инженера, который используется там, где не сложная последовательность работ.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Сетевой график – графическое изображение производственного процесса. Он позволяет найти минимальные сроки завершения проекта и отдельных работ, а также определить множество критических работ, увеличение продолжительности выполнения любой из которых приводит к увеличению времени выполнения всего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889251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430" y="187721"/>
            <a:ext cx="11221278" cy="847449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Диаграмма </a:t>
            </a:r>
            <a:r>
              <a:rPr lang="ru-RU" sz="4000" dirty="0" err="1">
                <a:solidFill>
                  <a:srgbClr val="002060"/>
                </a:solidFill>
                <a:latin typeface="Raleway Black"/>
              </a:rPr>
              <a:t>Ганта</a:t>
            </a:r>
            <a:r>
              <a:rPr lang="ru-RU" sz="4000" dirty="0">
                <a:solidFill>
                  <a:srgbClr val="002060"/>
                </a:solidFill>
                <a:latin typeface="Raleway Black"/>
              </a:rPr>
              <a:t> (календарный график) </a:t>
            </a: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451313"/>
              </p:ext>
            </p:extLst>
          </p:nvPr>
        </p:nvGraphicFramePr>
        <p:xfrm>
          <a:off x="208722" y="923026"/>
          <a:ext cx="11707454" cy="43704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1"/>
          <p:cNvSpPr txBox="1"/>
          <p:nvPr/>
        </p:nvSpPr>
        <p:spPr>
          <a:xfrm>
            <a:off x="4528074" y="5088079"/>
            <a:ext cx="1088366" cy="276045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Март-Апрель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5748475" y="5093140"/>
            <a:ext cx="1026543" cy="276045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Июнь-Июль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6820953" y="5088079"/>
            <a:ext cx="1338721" cy="276045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Август-Сентябрь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8111925" y="5070828"/>
            <a:ext cx="1284000" cy="276045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Октябрь-Ноябрь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9331325" y="5070828"/>
            <a:ext cx="1323834" cy="276045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Декабрь-Январь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10567576" y="5088079"/>
            <a:ext cx="1241682" cy="276045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Февраль-Март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4946" y="5763237"/>
            <a:ext cx="11090245" cy="6711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Использование ограничено, если параллельно выполняется очень большое количество работ и существует сложная и запу­танная зависимость между ними. В таком случае на помощь к календарным графикам приходят так называемые сетевые графики, представляющие собой не менее важный и эффективный инструмент планирования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82102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5846" y="235431"/>
            <a:ext cx="11312705" cy="782188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Виды сетевых моделей (графиков)</a:t>
            </a:r>
          </a:p>
        </p:txBody>
      </p:sp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45846" y="1017619"/>
            <a:ext cx="5100938" cy="32076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«Вершины-работы».</a:t>
            </a:r>
            <a:r>
              <a:rPr lang="ru-RU" sz="2000" dirty="0"/>
              <a:t> Здесь все процессы представлены в виде следующих один за другим прямоугольников, связанных логическими зависимостями. На рисунке показан пример такого сетевого графика. На графике показаны пять работ А, Б, В, Г, Д, где А – это исходная работа, Д – это завершающая работа, Б, В, Г – промежуточные работы. Стрелками изображены логические взаимосвязи работ. </a:t>
            </a:r>
          </a:p>
        </p:txBody>
      </p:sp>
      <p:sp>
        <p:nvSpPr>
          <p:cNvPr id="12" name="Блок-схема: узел 11"/>
          <p:cNvSpPr/>
          <p:nvPr/>
        </p:nvSpPr>
        <p:spPr>
          <a:xfrm>
            <a:off x="5857739" y="4856117"/>
            <a:ext cx="664234" cy="638355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/>
          </a:p>
        </p:txBody>
      </p:sp>
      <p:cxnSp>
        <p:nvCxnSpPr>
          <p:cNvPr id="14" name="Прямая со стрелкой 13"/>
          <p:cNvCxnSpPr>
            <a:stCxn id="12" idx="6"/>
            <a:endCxn id="17" idx="2"/>
          </p:cNvCxnSpPr>
          <p:nvPr/>
        </p:nvCxnSpPr>
        <p:spPr>
          <a:xfrm>
            <a:off x="6521973" y="5175295"/>
            <a:ext cx="64406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Блок-схема: узел 16"/>
          <p:cNvSpPr/>
          <p:nvPr/>
        </p:nvSpPr>
        <p:spPr>
          <a:xfrm>
            <a:off x="7166034" y="4856118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 стрелкой 17"/>
          <p:cNvCxnSpPr>
            <a:stCxn id="17" idx="7"/>
            <a:endCxn id="24" idx="2"/>
          </p:cNvCxnSpPr>
          <p:nvPr/>
        </p:nvCxnSpPr>
        <p:spPr>
          <a:xfrm flipV="1">
            <a:off x="7732993" y="4409854"/>
            <a:ext cx="742468" cy="5397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stCxn id="17" idx="5"/>
            <a:endCxn id="25" idx="2"/>
          </p:cNvCxnSpPr>
          <p:nvPr/>
        </p:nvCxnSpPr>
        <p:spPr>
          <a:xfrm>
            <a:off x="7732993" y="5400988"/>
            <a:ext cx="742468" cy="5397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Блок-схема: узел 23"/>
          <p:cNvSpPr/>
          <p:nvPr/>
        </p:nvSpPr>
        <p:spPr>
          <a:xfrm>
            <a:off x="8475461" y="4090676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Блок-схема: узел 24"/>
          <p:cNvSpPr/>
          <p:nvPr/>
        </p:nvSpPr>
        <p:spPr>
          <a:xfrm>
            <a:off x="8475461" y="5621562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Блок-схема: узел 29"/>
          <p:cNvSpPr/>
          <p:nvPr/>
        </p:nvSpPr>
        <p:spPr>
          <a:xfrm>
            <a:off x="9784889" y="4856118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1" name="Прямая со стрелкой 30"/>
          <p:cNvCxnSpPr>
            <a:stCxn id="25" idx="6"/>
            <a:endCxn id="30" idx="3"/>
          </p:cNvCxnSpPr>
          <p:nvPr/>
        </p:nvCxnSpPr>
        <p:spPr>
          <a:xfrm flipV="1">
            <a:off x="9139695" y="5400988"/>
            <a:ext cx="742469" cy="5397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6"/>
            <a:endCxn id="30" idx="1"/>
          </p:cNvCxnSpPr>
          <p:nvPr/>
        </p:nvCxnSpPr>
        <p:spPr>
          <a:xfrm>
            <a:off x="9139695" y="4409854"/>
            <a:ext cx="742469" cy="5397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stCxn id="30" idx="6"/>
            <a:endCxn id="58" idx="2"/>
          </p:cNvCxnSpPr>
          <p:nvPr/>
        </p:nvCxnSpPr>
        <p:spPr>
          <a:xfrm flipV="1">
            <a:off x="10449123" y="5175295"/>
            <a:ext cx="64519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Блок-схема: узел 57"/>
          <p:cNvSpPr/>
          <p:nvPr/>
        </p:nvSpPr>
        <p:spPr>
          <a:xfrm>
            <a:off x="11094317" y="4856117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8" name="Прямая со стрелкой 67"/>
          <p:cNvCxnSpPr>
            <a:stCxn id="24" idx="4"/>
            <a:endCxn id="25" idx="0"/>
          </p:cNvCxnSpPr>
          <p:nvPr/>
        </p:nvCxnSpPr>
        <p:spPr>
          <a:xfrm>
            <a:off x="8807578" y="4729031"/>
            <a:ext cx="0" cy="892531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5941185" y="4990628"/>
            <a:ext cx="47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 0</a:t>
            </a:r>
          </a:p>
        </p:txBody>
      </p:sp>
      <p:sp>
        <p:nvSpPr>
          <p:cNvPr id="119" name="TextBox 118"/>
          <p:cNvSpPr txBox="1"/>
          <p:nvPr/>
        </p:nvSpPr>
        <p:spPr>
          <a:xfrm flipH="1">
            <a:off x="7310361" y="4996450"/>
            <a:ext cx="45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283010" y="4996449"/>
            <a:ext cx="317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62963" y="4221677"/>
            <a:ext cx="273170" cy="372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62963" y="5756073"/>
            <a:ext cx="257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974326" y="4990628"/>
            <a:ext cx="257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124" name="Скругленный прямоугольник 123"/>
          <p:cNvSpPr/>
          <p:nvPr/>
        </p:nvSpPr>
        <p:spPr>
          <a:xfrm>
            <a:off x="1818607" y="5690978"/>
            <a:ext cx="715993" cy="5689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5" name="Скругленный прямоугольник 124"/>
          <p:cNvSpPr/>
          <p:nvPr/>
        </p:nvSpPr>
        <p:spPr>
          <a:xfrm>
            <a:off x="1818607" y="4160092"/>
            <a:ext cx="715993" cy="5689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6" name="Скругленный прямоугольник 125"/>
          <p:cNvSpPr/>
          <p:nvPr/>
        </p:nvSpPr>
        <p:spPr>
          <a:xfrm>
            <a:off x="659347" y="4896645"/>
            <a:ext cx="715993" cy="5689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7" name="Скругленный прямоугольник 126"/>
          <p:cNvSpPr/>
          <p:nvPr/>
        </p:nvSpPr>
        <p:spPr>
          <a:xfrm>
            <a:off x="2969933" y="4902508"/>
            <a:ext cx="715993" cy="5689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8" name="Скругленный прямоугольник 127"/>
          <p:cNvSpPr/>
          <p:nvPr/>
        </p:nvSpPr>
        <p:spPr>
          <a:xfrm>
            <a:off x="4532577" y="4896645"/>
            <a:ext cx="715993" cy="56893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9" name="Прямая со стрелкой 128"/>
          <p:cNvCxnSpPr>
            <a:stCxn id="126" idx="0"/>
            <a:endCxn id="125" idx="1"/>
          </p:cNvCxnSpPr>
          <p:nvPr/>
        </p:nvCxnSpPr>
        <p:spPr>
          <a:xfrm flipV="1">
            <a:off x="1017344" y="4444562"/>
            <a:ext cx="801263" cy="4520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Прямая со стрелкой 131"/>
          <p:cNvCxnSpPr>
            <a:stCxn id="126" idx="2"/>
            <a:endCxn id="124" idx="1"/>
          </p:cNvCxnSpPr>
          <p:nvPr/>
        </p:nvCxnSpPr>
        <p:spPr>
          <a:xfrm>
            <a:off x="1017344" y="5465584"/>
            <a:ext cx="801263" cy="5098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35"/>
          <p:cNvCxnSpPr>
            <a:stCxn id="125" idx="3"/>
            <a:endCxn id="127" idx="0"/>
          </p:cNvCxnSpPr>
          <p:nvPr/>
        </p:nvCxnSpPr>
        <p:spPr>
          <a:xfrm>
            <a:off x="2534600" y="4444562"/>
            <a:ext cx="793330" cy="4579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Прямая со стрелкой 139"/>
          <p:cNvCxnSpPr>
            <a:stCxn id="124" idx="3"/>
            <a:endCxn id="127" idx="2"/>
          </p:cNvCxnSpPr>
          <p:nvPr/>
        </p:nvCxnSpPr>
        <p:spPr>
          <a:xfrm flipV="1">
            <a:off x="2534600" y="5471447"/>
            <a:ext cx="793330" cy="5040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Прямая со стрелкой 142"/>
          <p:cNvCxnSpPr>
            <a:stCxn id="127" idx="3"/>
            <a:endCxn id="128" idx="1"/>
          </p:cNvCxnSpPr>
          <p:nvPr/>
        </p:nvCxnSpPr>
        <p:spPr>
          <a:xfrm flipV="1">
            <a:off x="3685926" y="5181115"/>
            <a:ext cx="846651" cy="58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803357" y="4997054"/>
            <a:ext cx="526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А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924282" y="4253927"/>
            <a:ext cx="526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 Б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004049" y="5790781"/>
            <a:ext cx="526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163631" y="4996449"/>
            <a:ext cx="526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Г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714336" y="4997054"/>
            <a:ext cx="526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156063" y="1017321"/>
            <a:ext cx="53030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«Вершины-события». </a:t>
            </a:r>
            <a:r>
              <a:rPr lang="ru-RU" sz="2000" dirty="0"/>
              <a:t>На таких графиках все работы представлены в виде стрелок, а события представлены кружками. На рисунке показан пример сетевого графика подобного типа. На графике 0, 1, 2, 3, 4, 5 – шесть взаимосвязанных событий. Начальное событие – это 0, конечное – это событие 5, все остальные – это промежуточные события.</a:t>
            </a:r>
          </a:p>
          <a:p>
            <a:r>
              <a:rPr lang="ru-RU" sz="2000" dirty="0"/>
              <a:t>Наиболее часто применимый!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17343" y="6312379"/>
            <a:ext cx="3269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 Сетевой график «Вершины-работы» 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310361" y="6326602"/>
            <a:ext cx="3366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Сетевой график «Вершины-события» </a:t>
            </a:r>
          </a:p>
        </p:txBody>
      </p:sp>
    </p:spTree>
    <p:extLst>
      <p:ext uri="{BB962C8B-B14F-4D97-AF65-F5344CB8AC3E}">
        <p14:creationId xmlns:p14="http://schemas.microsoft.com/office/powerpoint/2010/main" val="1157325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18C4-44FD-C212-A65D-8635FE88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CF5C4-A4C2-4D43-DA1A-E2CBD52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367"/>
            <a:ext cx="11006959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Элементы сетевых графиков</a:t>
            </a:r>
          </a:p>
        </p:txBody>
      </p:sp>
      <p:sp>
        <p:nvSpPr>
          <p:cNvPr id="48" name="Блок-схема: узел 47"/>
          <p:cNvSpPr/>
          <p:nvPr/>
        </p:nvSpPr>
        <p:spPr>
          <a:xfrm>
            <a:off x="1148766" y="3072776"/>
            <a:ext cx="1520516" cy="1206834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Событие</a:t>
            </a:r>
          </a:p>
        </p:txBody>
      </p:sp>
      <p:cxnSp>
        <p:nvCxnSpPr>
          <p:cNvPr id="49" name="Прямая со стрелкой 48"/>
          <p:cNvCxnSpPr>
            <a:stCxn id="48" idx="6"/>
            <a:endCxn id="50" idx="2"/>
          </p:cNvCxnSpPr>
          <p:nvPr/>
        </p:nvCxnSpPr>
        <p:spPr>
          <a:xfrm>
            <a:off x="2669282" y="3676193"/>
            <a:ext cx="1740530" cy="226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Блок-схема: узел 49"/>
          <p:cNvSpPr/>
          <p:nvPr/>
        </p:nvSpPr>
        <p:spPr>
          <a:xfrm>
            <a:off x="4409812" y="3379653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>
            <a:stCxn id="50" idx="7"/>
            <a:endCxn id="53" idx="2"/>
          </p:cNvCxnSpPr>
          <p:nvPr/>
        </p:nvCxnSpPr>
        <p:spPr>
          <a:xfrm flipV="1">
            <a:off x="4976771" y="2933391"/>
            <a:ext cx="789046" cy="5397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>
            <a:stCxn id="50" idx="5"/>
            <a:endCxn id="54" idx="2"/>
          </p:cNvCxnSpPr>
          <p:nvPr/>
        </p:nvCxnSpPr>
        <p:spPr>
          <a:xfrm>
            <a:off x="4976771" y="3924523"/>
            <a:ext cx="789046" cy="5397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Блок-схема: узел 52"/>
          <p:cNvSpPr/>
          <p:nvPr/>
        </p:nvSpPr>
        <p:spPr>
          <a:xfrm>
            <a:off x="5765817" y="2614213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Блок-схема: узел 53"/>
          <p:cNvSpPr/>
          <p:nvPr/>
        </p:nvSpPr>
        <p:spPr>
          <a:xfrm>
            <a:off x="5765817" y="4145099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Блок-схема: узел 54"/>
          <p:cNvSpPr/>
          <p:nvPr/>
        </p:nvSpPr>
        <p:spPr>
          <a:xfrm>
            <a:off x="7075245" y="3379655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6" name="Прямая со стрелкой 55"/>
          <p:cNvCxnSpPr>
            <a:stCxn id="54" idx="6"/>
            <a:endCxn id="55" idx="3"/>
          </p:cNvCxnSpPr>
          <p:nvPr/>
        </p:nvCxnSpPr>
        <p:spPr>
          <a:xfrm flipV="1">
            <a:off x="6430051" y="3924525"/>
            <a:ext cx="742469" cy="5397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/>
          <p:cNvCxnSpPr>
            <a:stCxn id="53" idx="6"/>
            <a:endCxn id="55" idx="1"/>
          </p:cNvCxnSpPr>
          <p:nvPr/>
        </p:nvCxnSpPr>
        <p:spPr>
          <a:xfrm>
            <a:off x="6430051" y="2933391"/>
            <a:ext cx="742469" cy="5397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>
            <a:stCxn id="55" idx="6"/>
            <a:endCxn id="59" idx="2"/>
          </p:cNvCxnSpPr>
          <p:nvPr/>
        </p:nvCxnSpPr>
        <p:spPr>
          <a:xfrm flipV="1">
            <a:off x="7739479" y="3698832"/>
            <a:ext cx="64519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Блок-схема: узел 58"/>
          <p:cNvSpPr/>
          <p:nvPr/>
        </p:nvSpPr>
        <p:spPr>
          <a:xfrm>
            <a:off x="8384673" y="3379654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 flipH="1">
            <a:off x="4600717" y="3519987"/>
            <a:ext cx="45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73366" y="3519986"/>
            <a:ext cx="317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53319" y="2745214"/>
            <a:ext cx="273170" cy="372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53319" y="4279610"/>
            <a:ext cx="257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4682" y="3514165"/>
            <a:ext cx="257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  <p:cxnSp>
        <p:nvCxnSpPr>
          <p:cNvPr id="68" name="Прямая со стрелкой 67"/>
          <p:cNvCxnSpPr>
            <a:stCxn id="53" idx="4"/>
            <a:endCxn id="54" idx="0"/>
          </p:cNvCxnSpPr>
          <p:nvPr/>
        </p:nvCxnSpPr>
        <p:spPr>
          <a:xfrm>
            <a:off x="6097934" y="3252568"/>
            <a:ext cx="0" cy="892531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Прямоугольник 72"/>
          <p:cNvSpPr/>
          <p:nvPr/>
        </p:nvSpPr>
        <p:spPr>
          <a:xfrm>
            <a:off x="2554625" y="3268289"/>
            <a:ext cx="14028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536575"/>
            <a:r>
              <a:rPr lang="ru-RU" dirty="0"/>
              <a:t>Работа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74493" y="1048949"/>
            <a:ext cx="110147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При построении сетевых графиков используют два логических понятия (элемента) – работа и событие.</a:t>
            </a:r>
          </a:p>
          <a:p>
            <a:pPr algn="just"/>
            <a:r>
              <a:rPr lang="ru-RU" dirty="0"/>
              <a:t>В сетевом планировании термин </a:t>
            </a:r>
            <a:r>
              <a:rPr lang="ru-RU" b="1" dirty="0"/>
              <a:t>«работа» </a:t>
            </a:r>
            <a:r>
              <a:rPr lang="ru-RU" dirty="0"/>
              <a:t>предусматривает процесс предшествующий совершению какого – либо события. Термин </a:t>
            </a:r>
            <a:r>
              <a:rPr lang="ru-RU" b="1" dirty="0"/>
              <a:t>«событие» </a:t>
            </a:r>
            <a:r>
              <a:rPr lang="ru-RU" dirty="0"/>
              <a:t>выражает собой определенный результат выполнения работы (или работ). На сетевом графике события изображают кружком, а работы - ориентированными стрелками.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35413" y="4490234"/>
            <a:ext cx="1132504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Термин «работа» включает три понятия: </a:t>
            </a:r>
          </a:p>
          <a:p>
            <a:r>
              <a:rPr lang="ru-RU" dirty="0"/>
              <a:t>1 - </a:t>
            </a:r>
            <a:r>
              <a:rPr lang="ru-RU" b="1" dirty="0"/>
              <a:t>«Фактическая работа» </a:t>
            </a:r>
            <a:r>
              <a:rPr lang="ru-RU" dirty="0"/>
              <a:t>- т.е. трудовой процесс, приводящий к достижению определенных результатов и требующих затрат времени и ресурсов; </a:t>
            </a:r>
          </a:p>
          <a:p>
            <a:r>
              <a:rPr lang="ru-RU" dirty="0"/>
              <a:t>2 - </a:t>
            </a:r>
            <a:r>
              <a:rPr lang="ru-RU" b="1" dirty="0"/>
              <a:t>«Ожидание» </a:t>
            </a:r>
            <a:r>
              <a:rPr lang="ru-RU" dirty="0"/>
              <a:t>- технологический перерыв в работе, не требующий затрат труда, но требующий затрат времени (высыхание краски, отвердевание цемента и т.д.); </a:t>
            </a:r>
          </a:p>
          <a:p>
            <a:r>
              <a:rPr lang="ru-RU" dirty="0"/>
              <a:t>3 - </a:t>
            </a:r>
            <a:r>
              <a:rPr lang="ru-RU" b="1" dirty="0"/>
              <a:t>«Зависимость» </a:t>
            </a:r>
            <a:r>
              <a:rPr lang="ru-RU" dirty="0"/>
              <a:t>(фиктивная работа) – логическая связь между событиями, не требующая затрат времени и ресурсов, но показывающая, что возможность начала одной работы зависит от результатов другой (пунктирные стрелки).</a:t>
            </a:r>
          </a:p>
        </p:txBody>
      </p:sp>
    </p:spTree>
    <p:extLst>
      <p:ext uri="{BB962C8B-B14F-4D97-AF65-F5344CB8AC3E}">
        <p14:creationId xmlns:p14="http://schemas.microsoft.com/office/powerpoint/2010/main" val="1227398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0782" y="557414"/>
            <a:ext cx="10515600" cy="764935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Использование фиктивных работ</a:t>
            </a:r>
          </a:p>
        </p:txBody>
      </p:sp>
      <p:sp>
        <p:nvSpPr>
          <p:cNvPr id="4" name="Блок-схема: узел 3"/>
          <p:cNvSpPr/>
          <p:nvPr/>
        </p:nvSpPr>
        <p:spPr>
          <a:xfrm>
            <a:off x="2635369" y="1989339"/>
            <a:ext cx="1233577" cy="1153305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sp>
        <p:nvSpPr>
          <p:cNvPr id="5" name="Блок-схема: узел 4"/>
          <p:cNvSpPr/>
          <p:nvPr/>
        </p:nvSpPr>
        <p:spPr>
          <a:xfrm>
            <a:off x="2635368" y="4391916"/>
            <a:ext cx="1233577" cy="1153305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sp>
        <p:nvSpPr>
          <p:cNvPr id="6" name="Стрелка вправо 5"/>
          <p:cNvSpPr/>
          <p:nvPr/>
        </p:nvSpPr>
        <p:spPr>
          <a:xfrm>
            <a:off x="4070589" y="2235847"/>
            <a:ext cx="1621765" cy="66028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лок-схема: узел 8"/>
          <p:cNvSpPr/>
          <p:nvPr/>
        </p:nvSpPr>
        <p:spPr>
          <a:xfrm>
            <a:off x="5893998" y="4391918"/>
            <a:ext cx="1233577" cy="1153305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</a:p>
        </p:txBody>
      </p:sp>
      <p:sp>
        <p:nvSpPr>
          <p:cNvPr id="10" name="Блок-схема: узел 9"/>
          <p:cNvSpPr/>
          <p:nvPr/>
        </p:nvSpPr>
        <p:spPr>
          <a:xfrm>
            <a:off x="5893998" y="1989340"/>
            <a:ext cx="1233577" cy="1153305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  <p:sp>
        <p:nvSpPr>
          <p:cNvPr id="14" name="Блок-схема: узел 13"/>
          <p:cNvSpPr/>
          <p:nvPr/>
        </p:nvSpPr>
        <p:spPr>
          <a:xfrm>
            <a:off x="8455323" y="3238613"/>
            <a:ext cx="1233577" cy="1153305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7246189" y="2769078"/>
            <a:ext cx="1209134" cy="61150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flipV="1">
            <a:off x="7246189" y="4295954"/>
            <a:ext cx="1209134" cy="5654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Стрелка вправо 28"/>
          <p:cNvSpPr/>
          <p:nvPr/>
        </p:nvSpPr>
        <p:spPr>
          <a:xfrm>
            <a:off x="4070588" y="4638424"/>
            <a:ext cx="1621765" cy="66028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4209691" y="2381325"/>
            <a:ext cx="1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Работа 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19396" y="4783902"/>
            <a:ext cx="1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Работа В</a:t>
            </a:r>
          </a:p>
        </p:txBody>
      </p:sp>
    </p:spTree>
    <p:extLst>
      <p:ext uri="{BB962C8B-B14F-4D97-AF65-F5344CB8AC3E}">
        <p14:creationId xmlns:p14="http://schemas.microsoft.com/office/powerpoint/2010/main" val="4203893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18C4-44FD-C212-A65D-8635FE88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CF5C4-A4C2-4D43-DA1A-E2CBD52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367"/>
            <a:ext cx="11006959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Элементы сетевых графиков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199" y="1095294"/>
            <a:ext cx="1053727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Каждому </a:t>
            </a:r>
            <a:r>
              <a:rPr lang="ru-RU" b="1" dirty="0"/>
              <a:t>событию</a:t>
            </a:r>
            <a:r>
              <a:rPr lang="ru-RU" dirty="0"/>
              <a:t> </a:t>
            </a:r>
            <a:r>
              <a:rPr lang="ru-RU" b="1" dirty="0"/>
              <a:t>присваивается определенный номер </a:t>
            </a:r>
            <a:r>
              <a:rPr lang="ru-RU" dirty="0"/>
              <a:t>(обычно цифрой), т.е. 1, 2, 3 и т.д. - события. Каждая </a:t>
            </a:r>
            <a:r>
              <a:rPr lang="ru-RU" b="1" dirty="0"/>
              <a:t>работа</a:t>
            </a:r>
            <a:r>
              <a:rPr lang="ru-RU" dirty="0"/>
              <a:t>, изображенная на сетевом графике </a:t>
            </a:r>
            <a:r>
              <a:rPr lang="ru-RU" b="1" dirty="0"/>
              <a:t>стрелкой</a:t>
            </a:r>
            <a:r>
              <a:rPr lang="ru-RU" dirty="0"/>
              <a:t>, объединяет только </a:t>
            </a:r>
            <a:r>
              <a:rPr lang="ru-RU" b="1" dirty="0"/>
              <a:t>два события</a:t>
            </a:r>
            <a:r>
              <a:rPr lang="ru-RU" dirty="0"/>
              <a:t>, поэтому принято работу на сетевом графике обозначать номерами предшествующего (i-</a:t>
            </a:r>
            <a:r>
              <a:rPr lang="ru-RU" dirty="0" err="1"/>
              <a:t>го</a:t>
            </a:r>
            <a:r>
              <a:rPr lang="ru-RU" dirty="0"/>
              <a:t>) и последующего (j-</a:t>
            </a:r>
            <a:r>
              <a:rPr lang="ru-RU" dirty="0" err="1"/>
              <a:t>го</a:t>
            </a:r>
            <a:r>
              <a:rPr lang="ru-RU" dirty="0"/>
              <a:t>) событий, т.е. 1 - 2, 2 - 5, 5 - 7 и т.д. - работы. </a:t>
            </a:r>
          </a:p>
          <a:p>
            <a:pPr algn="just"/>
            <a:r>
              <a:rPr lang="ru-RU" dirty="0"/>
              <a:t>Сетевой график представляет собой последовательность работ и событий, отражающих их технологическую взаимосвязь. </a:t>
            </a:r>
          </a:p>
          <a:p>
            <a:pPr algn="just"/>
            <a:r>
              <a:rPr lang="ru-RU" dirty="0"/>
              <a:t>На сетевом графике выделяют два события: начальное (1) (исходное) и конечное (7) (завершающее). Все остальные события называются промежуточными. </a:t>
            </a:r>
            <a:r>
              <a:rPr lang="ru-RU" b="1" dirty="0"/>
              <a:t>Исходное </a:t>
            </a:r>
            <a:r>
              <a:rPr lang="ru-RU" dirty="0"/>
              <a:t>событие отражает </a:t>
            </a:r>
            <a:r>
              <a:rPr lang="ru-RU" b="1" dirty="0"/>
              <a:t>начало</a:t>
            </a:r>
            <a:r>
              <a:rPr lang="ru-RU" dirty="0"/>
              <a:t> выполнения всего комплекса работ и не имеет предшествующего события. </a:t>
            </a:r>
            <a:r>
              <a:rPr lang="ru-RU" b="1" dirty="0"/>
              <a:t>Завершающее </a:t>
            </a:r>
            <a:r>
              <a:rPr lang="ru-RU" dirty="0"/>
              <a:t>событие отражает </a:t>
            </a:r>
            <a:r>
              <a:rPr lang="ru-RU" b="1" dirty="0"/>
              <a:t>конечную цель </a:t>
            </a:r>
            <a:r>
              <a:rPr lang="ru-RU" dirty="0"/>
              <a:t>всего комплекса работ и не имеет последующего события. </a:t>
            </a:r>
          </a:p>
          <a:p>
            <a:pPr algn="just"/>
            <a:r>
              <a:rPr lang="ru-RU" dirty="0"/>
              <a:t>Сетевой график строят в масштабе или без масштаба. В последнем случае обязательно над стрелками проставляют продолжительность работы в единицах времени. </a:t>
            </a:r>
          </a:p>
          <a:p>
            <a:pPr algn="just"/>
            <a:r>
              <a:rPr lang="ru-RU" dirty="0"/>
              <a:t>Любая последовательность работ от одного события к другому (любому) называется путем и обозначается L(2 - 5 - 7), т. е. каждый путь обозначают буквой L и номерами событий через которые он проходит. Длина любого пути определяется суммарной продолжительностью составляющих его работ. Полный путь - это путь от исходного до завершающего события. В сетевом графике, как правило, имеется </a:t>
            </a:r>
            <a:r>
              <a:rPr lang="ru-RU" b="1" dirty="0"/>
              <a:t>несколько полных путей с различной продолжительностью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4562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18C4-44FD-C212-A65D-8635FE88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CF5C4-A4C2-4D43-DA1A-E2CBD52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04" y="59622"/>
            <a:ext cx="11006959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Элементы сетевых графиков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86560" y="4468154"/>
            <a:ext cx="1119930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Полный путь</a:t>
            </a:r>
            <a:r>
              <a:rPr lang="ru-RU" dirty="0"/>
              <a:t>, имеющий максимальную продолжительность, называют </a:t>
            </a:r>
            <a:r>
              <a:rPr lang="ru-RU" b="1" dirty="0"/>
              <a:t>критическим путем</a:t>
            </a:r>
            <a:r>
              <a:rPr lang="ru-RU" dirty="0"/>
              <a:t>. Работы, лежащие на критическом пути называется критическими работами. Критический путь (</a:t>
            </a:r>
            <a:r>
              <a:rPr lang="ru-RU" dirty="0" err="1"/>
              <a:t>Lкр</a:t>
            </a:r>
            <a:r>
              <a:rPr lang="ru-RU" dirty="0"/>
              <a:t>) определяет общую продолжительность выполнения всего комплекса работ. Для большей наглядности его выделяют двойными или жирными линиями.</a:t>
            </a:r>
          </a:p>
          <a:p>
            <a:pPr algn="just"/>
            <a:r>
              <a:rPr lang="ru-RU" dirty="0"/>
              <a:t>Полные пути, продолжительность которых </a:t>
            </a:r>
            <a:r>
              <a:rPr lang="ru-RU" b="1" dirty="0"/>
              <a:t>меньше </a:t>
            </a:r>
            <a:r>
              <a:rPr lang="ru-RU" b="1" dirty="0" err="1"/>
              <a:t>Lкр</a:t>
            </a:r>
            <a:r>
              <a:rPr lang="ru-RU" dirty="0"/>
              <a:t>, называются </a:t>
            </a:r>
            <a:r>
              <a:rPr lang="ru-RU" b="1" dirty="0"/>
              <a:t>некритичными</a:t>
            </a:r>
            <a:r>
              <a:rPr lang="ru-RU" dirty="0"/>
              <a:t>. У них имеется резерв времени, в пределах которого время выполнения работ может быть увеличено, что не приводит к увеличению общей продолжительности наступления завершающего события. </a:t>
            </a:r>
          </a:p>
        </p:txBody>
      </p:sp>
      <p:sp>
        <p:nvSpPr>
          <p:cNvPr id="5" name="Овал 4"/>
          <p:cNvSpPr/>
          <p:nvPr/>
        </p:nvSpPr>
        <p:spPr>
          <a:xfrm>
            <a:off x="7101305" y="1245245"/>
            <a:ext cx="802256" cy="7418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Овал 5"/>
          <p:cNvSpPr/>
          <p:nvPr/>
        </p:nvSpPr>
        <p:spPr>
          <a:xfrm>
            <a:off x="2300709" y="2469477"/>
            <a:ext cx="802256" cy="7418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3791638" y="3580128"/>
            <a:ext cx="802256" cy="7418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Овал 7"/>
          <p:cNvSpPr/>
          <p:nvPr/>
        </p:nvSpPr>
        <p:spPr>
          <a:xfrm>
            <a:off x="3791638" y="1239494"/>
            <a:ext cx="802256" cy="7418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Овал 8"/>
          <p:cNvSpPr/>
          <p:nvPr/>
        </p:nvSpPr>
        <p:spPr>
          <a:xfrm>
            <a:off x="8549105" y="2465881"/>
            <a:ext cx="802256" cy="7418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7101305" y="3580128"/>
            <a:ext cx="802256" cy="7418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5424907" y="2465881"/>
            <a:ext cx="802256" cy="7418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2" name="Прямая со стрелкой 11"/>
          <p:cNvCxnSpPr>
            <a:stCxn id="6" idx="0"/>
            <a:endCxn id="8" idx="2"/>
          </p:cNvCxnSpPr>
          <p:nvPr/>
        </p:nvCxnSpPr>
        <p:spPr>
          <a:xfrm flipV="1">
            <a:off x="2701837" y="1610430"/>
            <a:ext cx="1089801" cy="859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stCxn id="8" idx="3"/>
            <a:endCxn id="6" idx="7"/>
          </p:cNvCxnSpPr>
          <p:nvPr/>
        </p:nvCxnSpPr>
        <p:spPr>
          <a:xfrm flipH="1">
            <a:off x="2985477" y="1872721"/>
            <a:ext cx="923649" cy="7054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8" idx="4"/>
            <a:endCxn id="7" idx="0"/>
          </p:cNvCxnSpPr>
          <p:nvPr/>
        </p:nvCxnSpPr>
        <p:spPr>
          <a:xfrm>
            <a:off x="4192766" y="1981366"/>
            <a:ext cx="0" cy="1598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6" idx="4"/>
            <a:endCxn id="7" idx="2"/>
          </p:cNvCxnSpPr>
          <p:nvPr/>
        </p:nvCxnSpPr>
        <p:spPr>
          <a:xfrm>
            <a:off x="2701837" y="3211349"/>
            <a:ext cx="1089801" cy="739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8" idx="6"/>
            <a:endCxn id="11" idx="1"/>
          </p:cNvCxnSpPr>
          <p:nvPr/>
        </p:nvCxnSpPr>
        <p:spPr>
          <a:xfrm>
            <a:off x="4593894" y="1610430"/>
            <a:ext cx="948501" cy="96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554670" y="1757668"/>
            <a:ext cx="909461" cy="9451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11" idx="5"/>
          </p:cNvCxnSpPr>
          <p:nvPr/>
        </p:nvCxnSpPr>
        <p:spPr>
          <a:xfrm>
            <a:off x="6109675" y="3099108"/>
            <a:ext cx="1031216" cy="6865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endCxn id="10" idx="1"/>
          </p:cNvCxnSpPr>
          <p:nvPr/>
        </p:nvCxnSpPr>
        <p:spPr>
          <a:xfrm>
            <a:off x="6197865" y="2976028"/>
            <a:ext cx="1020928" cy="71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11" idx="6"/>
            <a:endCxn id="9" idx="2"/>
          </p:cNvCxnSpPr>
          <p:nvPr/>
        </p:nvCxnSpPr>
        <p:spPr>
          <a:xfrm>
            <a:off x="6227163" y="2836817"/>
            <a:ext cx="23219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stCxn id="7" idx="6"/>
            <a:endCxn id="10" idx="2"/>
          </p:cNvCxnSpPr>
          <p:nvPr/>
        </p:nvCxnSpPr>
        <p:spPr>
          <a:xfrm>
            <a:off x="4593894" y="3951064"/>
            <a:ext cx="25074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9" idx="1"/>
          </p:cNvCxnSpPr>
          <p:nvPr/>
        </p:nvCxnSpPr>
        <p:spPr>
          <a:xfrm>
            <a:off x="7786073" y="1878472"/>
            <a:ext cx="880520" cy="696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stCxn id="8" idx="6"/>
            <a:endCxn id="5" idx="2"/>
          </p:cNvCxnSpPr>
          <p:nvPr/>
        </p:nvCxnSpPr>
        <p:spPr>
          <a:xfrm>
            <a:off x="4593894" y="1610430"/>
            <a:ext cx="2507411" cy="5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>
            <a:stCxn id="10" idx="7"/>
            <a:endCxn id="9" idx="3"/>
          </p:cNvCxnSpPr>
          <p:nvPr/>
        </p:nvCxnSpPr>
        <p:spPr>
          <a:xfrm flipV="1">
            <a:off x="7786073" y="3099108"/>
            <a:ext cx="880520" cy="58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10" idx="6"/>
            <a:endCxn id="9" idx="4"/>
          </p:cNvCxnSpPr>
          <p:nvPr/>
        </p:nvCxnSpPr>
        <p:spPr>
          <a:xfrm flipV="1">
            <a:off x="7903561" y="3207753"/>
            <a:ext cx="1046672" cy="7433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 rot="2745077">
            <a:off x="4901245" y="1808193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sz="1050" dirty="0"/>
              <a:t>2-4</a:t>
            </a:r>
            <a:r>
              <a:rPr lang="en-US" dirty="0"/>
              <a:t>=3</a:t>
            </a: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 rot="19338766">
            <a:off x="2758878" y="1662274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sz="1050" dirty="0"/>
              <a:t>1-2</a:t>
            </a:r>
            <a:r>
              <a:rPr lang="en-US" dirty="0"/>
              <a:t>=4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 rot="2064469">
            <a:off x="2778160" y="3659909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sz="1050" dirty="0"/>
              <a:t>1-3</a:t>
            </a:r>
            <a:r>
              <a:rPr lang="en-US" dirty="0"/>
              <a:t>=3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5397382" y="3656314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sz="1050" dirty="0"/>
              <a:t>3-6</a:t>
            </a:r>
            <a:r>
              <a:rPr lang="en-US" dirty="0"/>
              <a:t>=2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 rot="2446147">
            <a:off x="8067665" y="1808193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sz="1050" dirty="0"/>
              <a:t>5-7</a:t>
            </a:r>
            <a:r>
              <a:rPr lang="en-US" dirty="0"/>
              <a:t>=2</a:t>
            </a:r>
            <a:endParaRPr lang="ru-RU" dirty="0"/>
          </a:p>
        </p:txBody>
      </p:sp>
      <p:sp>
        <p:nvSpPr>
          <p:cNvPr id="31" name="TextBox 30"/>
          <p:cNvSpPr txBox="1"/>
          <p:nvPr/>
        </p:nvSpPr>
        <p:spPr>
          <a:xfrm>
            <a:off x="7028901" y="2435678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sz="1050" dirty="0"/>
              <a:t>4-7</a:t>
            </a:r>
            <a:r>
              <a:rPr lang="en-US" dirty="0"/>
              <a:t>=3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 rot="2167389">
            <a:off x="6645294" y="3072362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sz="1050" dirty="0"/>
              <a:t>4-6</a:t>
            </a:r>
            <a:r>
              <a:rPr lang="en-US" dirty="0"/>
              <a:t>=3</a:t>
            </a:r>
            <a:endParaRPr lang="ru-RU" dirty="0"/>
          </a:p>
        </p:txBody>
      </p:sp>
      <p:sp>
        <p:nvSpPr>
          <p:cNvPr id="33" name="TextBox 32"/>
          <p:cNvSpPr txBox="1"/>
          <p:nvPr/>
        </p:nvSpPr>
        <p:spPr>
          <a:xfrm rot="19429280">
            <a:off x="8242038" y="3476435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sz="1050" dirty="0"/>
              <a:t>6-7</a:t>
            </a:r>
            <a:r>
              <a:rPr lang="en-US" dirty="0"/>
              <a:t>=2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3625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18C4-44FD-C212-A65D-8635FE88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CF5C4-A4C2-4D43-DA1A-E2CBD52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367"/>
            <a:ext cx="11006959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Правила построения сетевых графиков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FFD39ED-49D7-7B10-3647-2E4E27113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358" y="1184090"/>
            <a:ext cx="11183006" cy="514842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график должен быть простым, без лишних пересечений, большинство работ должно быть изображено горизонтальными линиями;</a:t>
            </a:r>
          </a:p>
          <a:p>
            <a:r>
              <a:rPr lang="ru-RU" dirty="0"/>
              <a:t>между двумя событиями на графике может находиться только одна работа;</a:t>
            </a:r>
          </a:p>
          <a:p>
            <a:r>
              <a:rPr lang="ru-RU" dirty="0"/>
              <a:t>все события, кроме завершающего, должны иметь последующую работу; наличие «тупиков» в сети указывает на то, что данная работа больше никакие работы не лимитирует и ее окончание можно отнести к завершающему событию;</a:t>
            </a:r>
          </a:p>
          <a:p>
            <a:r>
              <a:rPr lang="ru-RU" dirty="0"/>
              <a:t>в сети не должно быть событий, в которые не входит ни одна работа, за исключением исходного события. Если такие события появляются, то они соединяются «условной работой» с исходным событием, и тогда сеть будет замкнута;</a:t>
            </a:r>
          </a:p>
          <a:p>
            <a:r>
              <a:rPr lang="ru-RU" dirty="0"/>
              <a:t>в сетевом графике не должно быть замкнутых контуров (циклов);</a:t>
            </a:r>
          </a:p>
          <a:p>
            <a:r>
              <a:rPr lang="ru-RU" dirty="0"/>
              <a:t>ни один путь не должен проходить дважды через одно и то же событие, т.е. отсутствуют петли.</a:t>
            </a:r>
          </a:p>
          <a:p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 flipH="1">
            <a:off x="4681971" y="2698335"/>
            <a:ext cx="45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7232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18C4-44FD-C212-A65D-8635FE88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CF5C4-A4C2-4D43-DA1A-E2CBD52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367"/>
            <a:ext cx="11006959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Правила построения сетевых графиков</a:t>
            </a:r>
          </a:p>
        </p:txBody>
      </p:sp>
      <p:sp>
        <p:nvSpPr>
          <p:cNvPr id="95" name="Объект 9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Правильное построение  КСГ            Неправильное построение КСГ </a:t>
            </a:r>
          </a:p>
          <a:p>
            <a:endParaRPr lang="ru-RU" dirty="0"/>
          </a:p>
        </p:txBody>
      </p:sp>
      <p:cxnSp>
        <p:nvCxnSpPr>
          <p:cNvPr id="99" name="Прямая со стрелкой 98"/>
          <p:cNvCxnSpPr>
            <a:stCxn id="96" idx="0"/>
          </p:cNvCxnSpPr>
          <p:nvPr/>
        </p:nvCxnSpPr>
        <p:spPr>
          <a:xfrm flipV="1">
            <a:off x="1595301" y="3805465"/>
            <a:ext cx="2515070" cy="3444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Блок-схема: узел 109"/>
          <p:cNvSpPr/>
          <p:nvPr/>
        </p:nvSpPr>
        <p:spPr>
          <a:xfrm>
            <a:off x="7128640" y="4115532"/>
            <a:ext cx="664234" cy="638355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/>
          </a:p>
        </p:txBody>
      </p:sp>
      <p:cxnSp>
        <p:nvCxnSpPr>
          <p:cNvPr id="111" name="Прямая со стрелкой 110"/>
          <p:cNvCxnSpPr>
            <a:stCxn id="110" idx="6"/>
            <a:endCxn id="112" idx="2"/>
          </p:cNvCxnSpPr>
          <p:nvPr/>
        </p:nvCxnSpPr>
        <p:spPr>
          <a:xfrm>
            <a:off x="7792874" y="4434710"/>
            <a:ext cx="74046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Блок-схема: узел 111"/>
          <p:cNvSpPr/>
          <p:nvPr/>
        </p:nvSpPr>
        <p:spPr>
          <a:xfrm>
            <a:off x="8533342" y="4115533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3" name="Прямая со стрелкой 112"/>
          <p:cNvCxnSpPr/>
          <p:nvPr/>
        </p:nvCxnSpPr>
        <p:spPr>
          <a:xfrm flipV="1">
            <a:off x="7512317" y="3682981"/>
            <a:ext cx="2520612" cy="4361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Блок-схема: узел 113"/>
          <p:cNvSpPr/>
          <p:nvPr/>
        </p:nvSpPr>
        <p:spPr>
          <a:xfrm>
            <a:off x="9892219" y="3648590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5" name="TextBox 114"/>
          <p:cNvSpPr txBox="1"/>
          <p:nvPr/>
        </p:nvSpPr>
        <p:spPr>
          <a:xfrm>
            <a:off x="7206222" y="4250043"/>
            <a:ext cx="47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 1</a:t>
            </a:r>
          </a:p>
        </p:txBody>
      </p:sp>
      <p:sp>
        <p:nvSpPr>
          <p:cNvPr id="116" name="TextBox 115"/>
          <p:cNvSpPr txBox="1"/>
          <p:nvPr/>
        </p:nvSpPr>
        <p:spPr>
          <a:xfrm flipH="1">
            <a:off x="8675084" y="4248904"/>
            <a:ext cx="45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115682" y="3742691"/>
            <a:ext cx="273170" cy="372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  <p:cxnSp>
        <p:nvCxnSpPr>
          <p:cNvPr id="118" name="Прямая со стрелкой 117"/>
          <p:cNvCxnSpPr>
            <a:stCxn id="112" idx="6"/>
          </p:cNvCxnSpPr>
          <p:nvPr/>
        </p:nvCxnSpPr>
        <p:spPr>
          <a:xfrm flipV="1">
            <a:off x="9197576" y="4164393"/>
            <a:ext cx="784601" cy="2703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 стрелкой 118"/>
          <p:cNvCxnSpPr/>
          <p:nvPr/>
        </p:nvCxnSpPr>
        <p:spPr>
          <a:xfrm flipV="1">
            <a:off x="9193036" y="4451721"/>
            <a:ext cx="1803928" cy="246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Блок-схема: узел 119"/>
          <p:cNvSpPr/>
          <p:nvPr/>
        </p:nvSpPr>
        <p:spPr>
          <a:xfrm>
            <a:off x="9938043" y="4725527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1" name="TextBox 120"/>
          <p:cNvSpPr txBox="1"/>
          <p:nvPr/>
        </p:nvSpPr>
        <p:spPr>
          <a:xfrm>
            <a:off x="10127813" y="4891197"/>
            <a:ext cx="273170" cy="372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  <p:cxnSp>
        <p:nvCxnSpPr>
          <p:cNvPr id="122" name="Прямая со стрелкой 121"/>
          <p:cNvCxnSpPr/>
          <p:nvPr/>
        </p:nvCxnSpPr>
        <p:spPr>
          <a:xfrm>
            <a:off x="7500400" y="4743015"/>
            <a:ext cx="2487082" cy="4463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 стрелкой 122"/>
          <p:cNvCxnSpPr/>
          <p:nvPr/>
        </p:nvCxnSpPr>
        <p:spPr>
          <a:xfrm flipH="1" flipV="1">
            <a:off x="10258636" y="4261523"/>
            <a:ext cx="5762" cy="4766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Блок-схема: узел 123"/>
          <p:cNvSpPr/>
          <p:nvPr/>
        </p:nvSpPr>
        <p:spPr>
          <a:xfrm>
            <a:off x="10996964" y="4180657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6" name="Прямая со стрелкой 125"/>
          <p:cNvCxnSpPr>
            <a:stCxn id="120" idx="6"/>
          </p:cNvCxnSpPr>
          <p:nvPr/>
        </p:nvCxnSpPr>
        <p:spPr>
          <a:xfrm flipV="1">
            <a:off x="10602277" y="4701700"/>
            <a:ext cx="525510" cy="3430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1207804" y="4289934"/>
            <a:ext cx="273170" cy="372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3C4D1D1B-FBAE-A452-646E-078AC11A22E1}"/>
              </a:ext>
            </a:extLst>
          </p:cNvPr>
          <p:cNvGrpSpPr/>
          <p:nvPr/>
        </p:nvGrpSpPr>
        <p:grpSpPr>
          <a:xfrm>
            <a:off x="1263184" y="3682981"/>
            <a:ext cx="4348711" cy="1715292"/>
            <a:chOff x="1263184" y="3682981"/>
            <a:chExt cx="4348711" cy="1715292"/>
          </a:xfrm>
        </p:grpSpPr>
        <p:sp>
          <p:nvSpPr>
            <p:cNvPr id="96" name="Блок-схема: узел 95"/>
            <p:cNvSpPr/>
            <p:nvPr/>
          </p:nvSpPr>
          <p:spPr>
            <a:xfrm>
              <a:off x="1263184" y="4149923"/>
              <a:ext cx="664234" cy="638355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050"/>
            </a:p>
          </p:txBody>
        </p:sp>
        <p:cxnSp>
          <p:nvCxnSpPr>
            <p:cNvPr id="97" name="Прямая со стрелкой 96"/>
            <p:cNvCxnSpPr>
              <a:stCxn id="96" idx="6"/>
              <a:endCxn id="98" idx="2"/>
            </p:cNvCxnSpPr>
            <p:nvPr/>
          </p:nvCxnSpPr>
          <p:spPr>
            <a:xfrm>
              <a:off x="1927418" y="4469101"/>
              <a:ext cx="740468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Блок-схема: узел 97"/>
            <p:cNvSpPr/>
            <p:nvPr/>
          </p:nvSpPr>
          <p:spPr>
            <a:xfrm>
              <a:off x="2667886" y="4149924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Блок-схема: узел 99"/>
            <p:cNvSpPr/>
            <p:nvPr/>
          </p:nvSpPr>
          <p:spPr>
            <a:xfrm>
              <a:off x="4026763" y="3682981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340766" y="4284434"/>
              <a:ext cx="4708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  1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 flipH="1">
              <a:off x="2809628" y="4283295"/>
              <a:ext cx="456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 2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190508" y="3777082"/>
              <a:ext cx="273170" cy="372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3</a:t>
              </a:r>
            </a:p>
          </p:txBody>
        </p:sp>
        <p:cxnSp>
          <p:nvCxnSpPr>
            <p:cNvPr id="104" name="Прямая со стрелкой 103"/>
            <p:cNvCxnSpPr>
              <a:stCxn id="98" idx="6"/>
            </p:cNvCxnSpPr>
            <p:nvPr/>
          </p:nvCxnSpPr>
          <p:spPr>
            <a:xfrm flipV="1">
              <a:off x="3332120" y="4198784"/>
              <a:ext cx="784601" cy="2703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Прямая со стрелкой 104"/>
            <p:cNvCxnSpPr>
              <a:endCxn id="106" idx="1"/>
            </p:cNvCxnSpPr>
            <p:nvPr/>
          </p:nvCxnSpPr>
          <p:spPr>
            <a:xfrm>
              <a:off x="3327580" y="4558860"/>
              <a:ext cx="842282" cy="2945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Блок-схема: узел 105"/>
            <p:cNvSpPr/>
            <p:nvPr/>
          </p:nvSpPr>
          <p:spPr>
            <a:xfrm>
              <a:off x="4072587" y="4759918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4262357" y="4925588"/>
              <a:ext cx="273170" cy="372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4</a:t>
              </a:r>
            </a:p>
          </p:txBody>
        </p:sp>
        <p:cxnSp>
          <p:nvCxnSpPr>
            <p:cNvPr id="108" name="Прямая со стрелкой 107"/>
            <p:cNvCxnSpPr/>
            <p:nvPr/>
          </p:nvCxnSpPr>
          <p:spPr>
            <a:xfrm>
              <a:off x="1634944" y="4777406"/>
              <a:ext cx="2487082" cy="4463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Прямая со стрелкой 108"/>
            <p:cNvCxnSpPr/>
            <p:nvPr/>
          </p:nvCxnSpPr>
          <p:spPr>
            <a:xfrm flipV="1">
              <a:off x="4744743" y="4700012"/>
              <a:ext cx="291553" cy="3957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Блок-схема: узел 128"/>
            <p:cNvSpPr/>
            <p:nvPr/>
          </p:nvSpPr>
          <p:spPr>
            <a:xfrm>
              <a:off x="4947661" y="4198784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5158501" y="4308061"/>
              <a:ext cx="273170" cy="372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5</a:t>
              </a:r>
            </a:p>
          </p:txBody>
        </p:sp>
        <p:cxnSp>
          <p:nvCxnSpPr>
            <p:cNvPr id="132" name="Прямая со стрелкой 131"/>
            <p:cNvCxnSpPr>
              <a:endCxn id="129" idx="1"/>
            </p:cNvCxnSpPr>
            <p:nvPr/>
          </p:nvCxnSpPr>
          <p:spPr>
            <a:xfrm>
              <a:off x="4697327" y="3974954"/>
              <a:ext cx="347609" cy="3173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6" name="Прямая соединительная линия 135"/>
          <p:cNvCxnSpPr>
            <a:stCxn id="95" idx="0"/>
            <a:endCxn id="95" idx="2"/>
          </p:cNvCxnSpPr>
          <p:nvPr/>
        </p:nvCxnSpPr>
        <p:spPr>
          <a:xfrm>
            <a:off x="6096000" y="1825625"/>
            <a:ext cx="0" cy="435133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489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18C4-44FD-C212-A65D-8635FE88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CF5C4-A4C2-4D43-DA1A-E2CBD52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367"/>
            <a:ext cx="11006959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Исходная информация для разработки сетевого графика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FFD39ED-49D7-7B10-3647-2E4E27113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53" y="1427931"/>
            <a:ext cx="11183006" cy="5148426"/>
          </a:xfrm>
        </p:spPr>
        <p:txBody>
          <a:bodyPr>
            <a:normAutofit fontScale="77500" lnSpcReduction="20000"/>
          </a:bodyPr>
          <a:lstStyle/>
          <a:p>
            <a:pPr marL="0" indent="536575" algn="just">
              <a:buNone/>
            </a:pPr>
            <a:r>
              <a:rPr lang="ru-RU" dirty="0"/>
              <a:t>1. Ознакомиться с организационной структурой предприятия (структурного подразделения);</a:t>
            </a:r>
          </a:p>
          <a:p>
            <a:pPr marL="0" indent="536575" algn="just">
              <a:buNone/>
            </a:pPr>
            <a:r>
              <a:rPr lang="ru-RU" dirty="0"/>
              <a:t>2. Утвердить объем работы (программа ремонта по видам и сериям (типам) подвижного состава и др.);</a:t>
            </a:r>
          </a:p>
          <a:p>
            <a:pPr marL="0" indent="536575" algn="just">
              <a:buNone/>
            </a:pPr>
            <a:r>
              <a:rPr lang="ru-RU" dirty="0"/>
              <a:t>3. Утвердить перечень технологических процессов, определяющих данный вид работ (ремонта), в соответствии с локальным нормативным документом (Правила, Руководства и т.п.);</a:t>
            </a:r>
          </a:p>
          <a:p>
            <a:pPr marL="0" indent="536575" algn="just">
              <a:buNone/>
            </a:pPr>
            <a:r>
              <a:rPr lang="ru-RU" dirty="0"/>
              <a:t>4. Закрепить технологические процессы по отделениям (технологическим участкам, специализированным помещениям), предназначенные для выполнения каждого технологического процесса и определения режима их работы;</a:t>
            </a:r>
          </a:p>
          <a:p>
            <a:pPr marL="0" indent="536575" algn="just">
              <a:buNone/>
            </a:pPr>
            <a:r>
              <a:rPr lang="ru-RU" dirty="0"/>
              <a:t>5. Составить перечень производственных операций в соответствии с технолого-нормировочными картами (ТНК), определение нормативной численности исполнителей  с указанием наименования профессии по Единому тарифно-квалификационному справочнику (профессиональному стандарту) и разряда квалификации;</a:t>
            </a:r>
          </a:p>
          <a:p>
            <a:pPr marL="0" indent="536575" algn="just">
              <a:buNone/>
            </a:pPr>
            <a:r>
              <a:rPr lang="ru-RU" dirty="0"/>
              <a:t>6. Произвести оценку оснащенности технологического участка (специализированного помещения) необходимым технологическим оборудованием;</a:t>
            </a:r>
          </a:p>
          <a:p>
            <a:pPr marL="0" indent="536575" algn="just">
              <a:buNone/>
            </a:pPr>
            <a:r>
              <a:rPr lang="ru-RU" dirty="0"/>
              <a:t>7. Назначить ответственных лиц для обеспечения контроля за соблюдением графика и организующего взаимодействие участков (как правило, диспетчер). </a:t>
            </a:r>
          </a:p>
          <a:p>
            <a:pPr marL="0" indent="536575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9905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BEC02-214B-8C9E-3660-EDC5F3E0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D35F2-2BE2-14B9-CB87-129B30AB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698" y="0"/>
            <a:ext cx="11645461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Процесс построения сетевых графиков</a:t>
            </a: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28904C8B-0173-1BF9-6044-701F87B226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1193098"/>
              </p:ext>
            </p:extLst>
          </p:nvPr>
        </p:nvGraphicFramePr>
        <p:xfrm>
          <a:off x="655320" y="3936275"/>
          <a:ext cx="10515596" cy="2319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579">
                  <a:extLst>
                    <a:ext uri="{9D8B030D-6E8A-4147-A177-3AD203B41FA5}">
                      <a16:colId xmlns:a16="http://schemas.microsoft.com/office/drawing/2014/main" val="2880136842"/>
                    </a:ext>
                  </a:extLst>
                </a:gridCol>
                <a:gridCol w="987973">
                  <a:extLst>
                    <a:ext uri="{9D8B030D-6E8A-4147-A177-3AD203B41FA5}">
                      <a16:colId xmlns:a16="http://schemas.microsoft.com/office/drawing/2014/main" val="2930563813"/>
                    </a:ext>
                  </a:extLst>
                </a:gridCol>
                <a:gridCol w="1355834">
                  <a:extLst>
                    <a:ext uri="{9D8B030D-6E8A-4147-A177-3AD203B41FA5}">
                      <a16:colId xmlns:a16="http://schemas.microsoft.com/office/drawing/2014/main" val="3004712724"/>
                    </a:ext>
                  </a:extLst>
                </a:gridCol>
                <a:gridCol w="2238704">
                  <a:extLst>
                    <a:ext uri="{9D8B030D-6E8A-4147-A177-3AD203B41FA5}">
                      <a16:colId xmlns:a16="http://schemas.microsoft.com/office/drawing/2014/main" val="781970465"/>
                    </a:ext>
                  </a:extLst>
                </a:gridCol>
                <a:gridCol w="1639613">
                  <a:extLst>
                    <a:ext uri="{9D8B030D-6E8A-4147-A177-3AD203B41FA5}">
                      <a16:colId xmlns:a16="http://schemas.microsoft.com/office/drawing/2014/main" val="2145086041"/>
                    </a:ext>
                  </a:extLst>
                </a:gridCol>
                <a:gridCol w="1650125">
                  <a:extLst>
                    <a:ext uri="{9D8B030D-6E8A-4147-A177-3AD203B41FA5}">
                      <a16:colId xmlns:a16="http://schemas.microsoft.com/office/drawing/2014/main" val="4224420601"/>
                    </a:ext>
                  </a:extLst>
                </a:gridCol>
                <a:gridCol w="1673768">
                  <a:extLst>
                    <a:ext uri="{9D8B030D-6E8A-4147-A177-3AD203B41FA5}">
                      <a16:colId xmlns:a16="http://schemas.microsoft.com/office/drawing/2014/main" val="3302318983"/>
                    </a:ext>
                  </a:extLst>
                </a:gridCol>
              </a:tblGrid>
              <a:tr h="1207317">
                <a:tc rowSpan="2">
                  <a:txBody>
                    <a:bodyPr/>
                    <a:lstStyle/>
                    <a:p>
                      <a:r>
                        <a:rPr lang="ru-RU" dirty="0"/>
                        <a:t>Номер работы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Событие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 работ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Трудоемкость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исполнителей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Продолжительность работ(мин, ч.)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116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Начало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Окончание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819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367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975102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655320" y="1184366"/>
            <a:ext cx="105155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1. Описание комплекса работ, определение их продолжительности и последовательности (определитель работ сетевого графика).</a:t>
            </a:r>
          </a:p>
          <a:p>
            <a:r>
              <a:rPr lang="ru-RU" sz="2400" dirty="0"/>
              <a:t>2. Построение сетевого графика.</a:t>
            </a:r>
          </a:p>
          <a:p>
            <a:r>
              <a:rPr lang="ru-RU" sz="2400" dirty="0"/>
              <a:t>3. Расчет и анализ параметров сетевого графика.</a:t>
            </a:r>
          </a:p>
          <a:p>
            <a:r>
              <a:rPr lang="ru-RU" sz="2400" dirty="0"/>
              <a:t>4. Оптимизация сетевого графика, контроль и оперативное управление</a:t>
            </a:r>
          </a:p>
          <a:p>
            <a:r>
              <a:rPr lang="ru-RU" sz="2400" dirty="0"/>
              <a:t>ходом выполнения комплексом работ. </a:t>
            </a:r>
          </a:p>
        </p:txBody>
      </p:sp>
    </p:spTree>
    <p:extLst>
      <p:ext uri="{BB962C8B-B14F-4D97-AF65-F5344CB8AC3E}">
        <p14:creationId xmlns:p14="http://schemas.microsoft.com/office/powerpoint/2010/main" val="1195665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18C4-44FD-C212-A65D-8635FE88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CF5C4-A4C2-4D43-DA1A-E2CBD52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367"/>
            <a:ext cx="11006959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Расчет параметров сетевой модели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FFD39ED-49D7-7B10-3647-2E4E27113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766" y="1097280"/>
            <a:ext cx="11270393" cy="5479077"/>
          </a:xfrm>
        </p:spPr>
        <p:txBody>
          <a:bodyPr>
            <a:normAutofit/>
          </a:bodyPr>
          <a:lstStyle/>
          <a:p>
            <a:pPr marL="0" indent="536575">
              <a:buNone/>
            </a:pPr>
            <a:r>
              <a:rPr lang="ru-RU" sz="2400" dirty="0"/>
              <a:t>При расчетах определяют следующие параметры: </a:t>
            </a:r>
          </a:p>
          <a:p>
            <a:pPr marL="0" indent="0">
              <a:buNone/>
            </a:pPr>
            <a:r>
              <a:rPr lang="ru-RU" sz="2400" dirty="0"/>
              <a:t>А) для полных путей сетевого графика: </a:t>
            </a:r>
          </a:p>
          <a:p>
            <a:pPr>
              <a:buFontTx/>
              <a:buChar char="-"/>
            </a:pPr>
            <a:r>
              <a:rPr lang="ru-RU" sz="2400" dirty="0"/>
              <a:t>t(</a:t>
            </a:r>
            <a:r>
              <a:rPr lang="ru-RU" sz="2400" dirty="0" err="1"/>
              <a:t>Li</a:t>
            </a:r>
            <a:r>
              <a:rPr lang="ru-RU" sz="2400" dirty="0"/>
              <a:t>) - продолжительность любого полного пути;</a:t>
            </a:r>
          </a:p>
          <a:p>
            <a:pPr>
              <a:buFontTx/>
              <a:buChar char="-"/>
            </a:pPr>
            <a:r>
              <a:rPr lang="ru-RU" sz="2400" dirty="0"/>
              <a:t>t(</a:t>
            </a:r>
            <a:r>
              <a:rPr lang="ru-RU" sz="2400" dirty="0" err="1"/>
              <a:t>Lкр</a:t>
            </a:r>
            <a:r>
              <a:rPr lang="ru-RU" sz="2400" dirty="0"/>
              <a:t>) - продолжительность критического пути; </a:t>
            </a:r>
          </a:p>
          <a:p>
            <a:pPr>
              <a:buFontTx/>
              <a:buChar char="-"/>
            </a:pPr>
            <a:r>
              <a:rPr lang="ru-RU" sz="2400" dirty="0"/>
              <a:t>R(</a:t>
            </a:r>
            <a:r>
              <a:rPr lang="ru-RU" sz="2400" dirty="0" err="1"/>
              <a:t>Li</a:t>
            </a:r>
            <a:r>
              <a:rPr lang="ru-RU" sz="2400" dirty="0"/>
              <a:t>) - полный резерв времени пути. </a:t>
            </a:r>
          </a:p>
          <a:p>
            <a:pPr marL="0" indent="0">
              <a:buNone/>
            </a:pPr>
            <a:r>
              <a:rPr lang="ru-RU" sz="2400" dirty="0"/>
              <a:t>Б) для событий и работ: </a:t>
            </a:r>
          </a:p>
          <a:p>
            <a:pPr>
              <a:buFontTx/>
              <a:buChar char="-"/>
            </a:pPr>
            <a:r>
              <a:rPr lang="ru-RU" sz="2400" dirty="0"/>
              <a:t>T - ранний и поздний сроки совершения события; </a:t>
            </a:r>
          </a:p>
          <a:p>
            <a:pPr>
              <a:buFontTx/>
              <a:buChar char="-"/>
            </a:pPr>
            <a:r>
              <a:rPr lang="ru-RU" sz="2400" dirty="0"/>
              <a:t>- </a:t>
            </a:r>
            <a:r>
              <a:rPr lang="ru-RU" sz="2400" dirty="0" err="1"/>
              <a:t>Ri</a:t>
            </a:r>
            <a:r>
              <a:rPr lang="ru-RU" sz="2400" dirty="0"/>
              <a:t> - резерв времени события;</a:t>
            </a:r>
          </a:p>
          <a:p>
            <a:pPr marL="0" indent="0">
              <a:buNone/>
            </a:pPr>
            <a:r>
              <a:rPr lang="ru-RU" sz="2400" dirty="0"/>
              <a:t>- Тр.о.,</a:t>
            </a:r>
            <a:r>
              <a:rPr lang="ru-RU" sz="2400" dirty="0" err="1"/>
              <a:t>Тр.н</a:t>
            </a:r>
            <a:r>
              <a:rPr lang="ru-RU" sz="2400" dirty="0"/>
              <a:t>. - ранний срок начала и окончания работ; </a:t>
            </a:r>
          </a:p>
          <a:p>
            <a:pPr>
              <a:buFontTx/>
              <a:buChar char="-"/>
            </a:pPr>
            <a:r>
              <a:rPr lang="en-US" sz="2400" dirty="0"/>
              <a:t>T</a:t>
            </a:r>
            <a:r>
              <a:rPr lang="ru-RU" sz="2400" dirty="0"/>
              <a:t>п</a:t>
            </a:r>
            <a:r>
              <a:rPr lang="en-US" sz="2400" dirty="0"/>
              <a:t>.</a:t>
            </a:r>
            <a:r>
              <a:rPr lang="ru-RU" sz="2400" dirty="0"/>
              <a:t>о</a:t>
            </a:r>
            <a:r>
              <a:rPr lang="en-US" sz="2400" dirty="0"/>
              <a:t>., </a:t>
            </a:r>
            <a:r>
              <a:rPr lang="ru-RU" sz="2400" dirty="0" err="1"/>
              <a:t>Тп.н</a:t>
            </a:r>
            <a:r>
              <a:rPr lang="ru-RU" sz="2400" dirty="0"/>
              <a:t>. - поздний срок начала и окончания работ; </a:t>
            </a:r>
          </a:p>
          <a:p>
            <a:pPr>
              <a:buFontTx/>
              <a:buChar char="-"/>
            </a:pPr>
            <a:r>
              <a:rPr lang="ru-RU" sz="2400" dirty="0" err="1"/>
              <a:t>Rсв</a:t>
            </a:r>
            <a:r>
              <a:rPr lang="ru-RU" sz="2400" dirty="0"/>
              <a:t>, </a:t>
            </a:r>
            <a:r>
              <a:rPr lang="ru-RU" sz="2400" dirty="0" err="1"/>
              <a:t>Rп</a:t>
            </a:r>
            <a:r>
              <a:rPr lang="ru-RU" sz="2400" dirty="0"/>
              <a:t> - полный и свободный резерв времени работы. </a:t>
            </a:r>
          </a:p>
        </p:txBody>
      </p:sp>
    </p:spTree>
    <p:extLst>
      <p:ext uri="{BB962C8B-B14F-4D97-AF65-F5344CB8AC3E}">
        <p14:creationId xmlns:p14="http://schemas.microsoft.com/office/powerpoint/2010/main" val="348447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AC415-AEF8-4895-B2B7-109FED23D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1" y="370567"/>
            <a:ext cx="11692466" cy="1325563"/>
          </a:xfrm>
        </p:spPr>
        <p:txBody>
          <a:bodyPr>
            <a:normAutofit fontScale="90000"/>
          </a:bodyPr>
          <a:lstStyle/>
          <a:p>
            <a:r>
              <a:rPr lang="ru-RU" sz="4400" dirty="0">
                <a:solidFill>
                  <a:srgbClr val="002060"/>
                </a:solidFill>
                <a:latin typeface="Raleway Black"/>
              </a:rPr>
              <a:t>Расчет параметров сетевой модели: для полных путей сетевого графика (вариант А)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CA333A7-A43C-44E8-88D3-209BB9D7CF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36174"/>
                <a:ext cx="10515600" cy="3332063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ru-RU" dirty="0"/>
                  <a:t>Полная продолжительность пути равна сумме работ между последующими событиями от исходного до завершающего, т. е. L1-2 = 4 плюс L2-3 = 4 и т.д. - продолжительность работ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ru-RU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  <a:p>
                <a:pPr lvl="8" algn="just">
                  <a:buFont typeface="Wingdings" panose="05000000000000000000" pitchFamily="2" charset="2"/>
                  <a:buChar char="§"/>
                </a:pPr>
                <a:endParaRPr lang="ru-RU" dirty="0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ru-RU" dirty="0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CA333A7-A43C-44E8-88D3-209BB9D7C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36174"/>
                <a:ext cx="10515600" cy="3332063"/>
              </a:xfrm>
              <a:blipFill>
                <a:blip r:embed="rId2"/>
                <a:stretch>
                  <a:fillRect l="-986" t="-2925" r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342CD1B2-6C96-4C6E-AFFD-1E71D8CF3BD8}"/>
              </a:ext>
            </a:extLst>
          </p:cNvPr>
          <p:cNvSpPr txBox="1"/>
          <p:nvPr/>
        </p:nvSpPr>
        <p:spPr>
          <a:xfrm>
            <a:off x="5984055" y="372002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rgbClr val="FF0000"/>
                </a:solidFill>
              </a:rPr>
              <a:t>Упражнение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Сформируйте таблицу для расчета полной продолжительности путей сетевого графика, приняв продолжительность работ равные дню в месяце вашего рождения, а также дате рождения еще 6 друзей.</a:t>
            </a: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E38349BB-5871-407B-8FFC-8A468107C46E}"/>
              </a:ext>
            </a:extLst>
          </p:cNvPr>
          <p:cNvGrpSpPr/>
          <p:nvPr/>
        </p:nvGrpSpPr>
        <p:grpSpPr>
          <a:xfrm>
            <a:off x="912222" y="3902256"/>
            <a:ext cx="4519649" cy="1783159"/>
            <a:chOff x="1259356" y="5017234"/>
            <a:chExt cx="4519649" cy="1783159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87C21DBB-82DF-4CE1-ACB7-2E489F78292D}"/>
                </a:ext>
              </a:extLst>
            </p:cNvPr>
            <p:cNvGrpSpPr/>
            <p:nvPr/>
          </p:nvGrpSpPr>
          <p:grpSpPr>
            <a:xfrm>
              <a:off x="1375712" y="5085101"/>
              <a:ext cx="4403293" cy="1715292"/>
              <a:chOff x="1340766" y="3682981"/>
              <a:chExt cx="4403293" cy="1715292"/>
            </a:xfrm>
          </p:grpSpPr>
          <p:cxnSp>
            <p:nvCxnSpPr>
              <p:cNvPr id="5" name="Прямая со стрелкой 4">
                <a:extLst>
                  <a:ext uri="{FF2B5EF4-FFF2-40B4-BE49-F238E27FC236}">
                    <a16:creationId xmlns:a16="http://schemas.microsoft.com/office/drawing/2014/main" id="{38CB8964-6873-44B4-87F0-755F92D85B7C}"/>
                  </a:ext>
                </a:extLst>
              </p:cNvPr>
              <p:cNvCxnSpPr>
                <a:cxnSpLocks/>
                <a:stCxn id="21" idx="6"/>
                <a:endCxn id="6" idx="2"/>
              </p:cNvCxnSpPr>
              <p:nvPr/>
            </p:nvCxnSpPr>
            <p:spPr>
              <a:xfrm>
                <a:off x="1888644" y="4454984"/>
                <a:ext cx="779242" cy="14118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6" name="Блок-схема: узел 5">
                <a:extLst>
                  <a:ext uri="{FF2B5EF4-FFF2-40B4-BE49-F238E27FC236}">
                    <a16:creationId xmlns:a16="http://schemas.microsoft.com/office/drawing/2014/main" id="{ABDF8FED-6081-4005-AC33-F03CFDDDA636}"/>
                  </a:ext>
                </a:extLst>
              </p:cNvPr>
              <p:cNvSpPr/>
              <p:nvPr/>
            </p:nvSpPr>
            <p:spPr>
              <a:xfrm>
                <a:off x="2667886" y="4149924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7" name="Прямая со стрелкой 6">
                <a:extLst>
                  <a:ext uri="{FF2B5EF4-FFF2-40B4-BE49-F238E27FC236}">
                    <a16:creationId xmlns:a16="http://schemas.microsoft.com/office/drawing/2014/main" id="{D2F1AB71-70F6-45B8-B35A-44E33DD134B9}"/>
                  </a:ext>
                </a:extLst>
              </p:cNvPr>
              <p:cNvCxnSpPr>
                <a:cxnSpLocks/>
                <a:stCxn id="21" idx="0"/>
              </p:cNvCxnSpPr>
              <p:nvPr/>
            </p:nvCxnSpPr>
            <p:spPr>
              <a:xfrm flipV="1">
                <a:off x="1540149" y="3805465"/>
                <a:ext cx="2570222" cy="33476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Блок-схема: узел 7">
                <a:extLst>
                  <a:ext uri="{FF2B5EF4-FFF2-40B4-BE49-F238E27FC236}">
                    <a16:creationId xmlns:a16="http://schemas.microsoft.com/office/drawing/2014/main" id="{AF86CA58-F81F-4072-83C6-C8E453C1B895}"/>
                  </a:ext>
                </a:extLst>
              </p:cNvPr>
              <p:cNvSpPr/>
              <p:nvPr/>
            </p:nvSpPr>
            <p:spPr>
              <a:xfrm>
                <a:off x="4026763" y="3682981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A3FD4D-8D85-4A77-A676-975A0CA14C1E}"/>
                  </a:ext>
                </a:extLst>
              </p:cNvPr>
              <p:cNvSpPr txBox="1"/>
              <p:nvPr/>
            </p:nvSpPr>
            <p:spPr>
              <a:xfrm>
                <a:off x="1340766" y="4284434"/>
                <a:ext cx="4708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 1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F6FBD6-77EF-43C1-B623-667345870FEA}"/>
                  </a:ext>
                </a:extLst>
              </p:cNvPr>
              <p:cNvSpPr txBox="1"/>
              <p:nvPr/>
            </p:nvSpPr>
            <p:spPr>
              <a:xfrm flipH="1">
                <a:off x="2809628" y="4283295"/>
                <a:ext cx="456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2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90087B-518F-4801-A544-F812DDDB67E8}"/>
                  </a:ext>
                </a:extLst>
              </p:cNvPr>
              <p:cNvSpPr txBox="1"/>
              <p:nvPr/>
            </p:nvSpPr>
            <p:spPr>
              <a:xfrm>
                <a:off x="4190508" y="3777082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3</a:t>
                </a:r>
              </a:p>
            </p:txBody>
          </p:sp>
          <p:cxnSp>
            <p:nvCxnSpPr>
              <p:cNvPr id="12" name="Прямая со стрелкой 11">
                <a:extLst>
                  <a:ext uri="{FF2B5EF4-FFF2-40B4-BE49-F238E27FC236}">
                    <a16:creationId xmlns:a16="http://schemas.microsoft.com/office/drawing/2014/main" id="{CD869277-E518-4893-A83D-A69B10BAA266}"/>
                  </a:ext>
                </a:extLst>
              </p:cNvPr>
              <p:cNvCxnSpPr>
                <a:stCxn id="6" idx="6"/>
              </p:cNvCxnSpPr>
              <p:nvPr/>
            </p:nvCxnSpPr>
            <p:spPr>
              <a:xfrm flipV="1">
                <a:off x="3332120" y="4198784"/>
                <a:ext cx="784601" cy="270318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 стрелкой 12">
                <a:extLst>
                  <a:ext uri="{FF2B5EF4-FFF2-40B4-BE49-F238E27FC236}">
                    <a16:creationId xmlns:a16="http://schemas.microsoft.com/office/drawing/2014/main" id="{9309FAE0-5F1F-4731-A433-D72CE3F9FDE6}"/>
                  </a:ext>
                </a:extLst>
              </p:cNvPr>
              <p:cNvCxnSpPr>
                <a:endCxn id="14" idx="1"/>
              </p:cNvCxnSpPr>
              <p:nvPr/>
            </p:nvCxnSpPr>
            <p:spPr>
              <a:xfrm>
                <a:off x="3327580" y="4558860"/>
                <a:ext cx="842282" cy="29454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Блок-схема: узел 13">
                <a:extLst>
                  <a:ext uri="{FF2B5EF4-FFF2-40B4-BE49-F238E27FC236}">
                    <a16:creationId xmlns:a16="http://schemas.microsoft.com/office/drawing/2014/main" id="{86D629A2-5D72-4C60-BFF1-546BAA0D2709}"/>
                  </a:ext>
                </a:extLst>
              </p:cNvPr>
              <p:cNvSpPr/>
              <p:nvPr/>
            </p:nvSpPr>
            <p:spPr>
              <a:xfrm>
                <a:off x="4072587" y="4759918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9DFA69-4836-4AFF-A407-47FD1F4A42EB}"/>
                  </a:ext>
                </a:extLst>
              </p:cNvPr>
              <p:cNvSpPr txBox="1"/>
              <p:nvPr/>
            </p:nvSpPr>
            <p:spPr>
              <a:xfrm>
                <a:off x="4262357" y="4925588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4</a:t>
                </a:r>
              </a:p>
            </p:txBody>
          </p:sp>
          <p:cxnSp>
            <p:nvCxnSpPr>
              <p:cNvPr id="16" name="Прямая со стрелкой 15">
                <a:extLst>
                  <a:ext uri="{FF2B5EF4-FFF2-40B4-BE49-F238E27FC236}">
                    <a16:creationId xmlns:a16="http://schemas.microsoft.com/office/drawing/2014/main" id="{0EECB9E0-2707-4316-80BD-FCF4F17A11BE}"/>
                  </a:ext>
                </a:extLst>
              </p:cNvPr>
              <p:cNvCxnSpPr>
                <a:cxnSpLocks/>
                <a:stCxn id="21" idx="4"/>
              </p:cNvCxnSpPr>
              <p:nvPr/>
            </p:nvCxnSpPr>
            <p:spPr>
              <a:xfrm>
                <a:off x="1490445" y="4778587"/>
                <a:ext cx="2631581" cy="44519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 стрелкой 16">
                <a:extLst>
                  <a:ext uri="{FF2B5EF4-FFF2-40B4-BE49-F238E27FC236}">
                    <a16:creationId xmlns:a16="http://schemas.microsoft.com/office/drawing/2014/main" id="{2E9D3806-32F4-4C4D-9CE9-2C25A2BCA6D1}"/>
                  </a:ext>
                </a:extLst>
              </p:cNvPr>
              <p:cNvCxnSpPr>
                <a:cxnSpLocks/>
                <a:stCxn id="14" idx="5"/>
                <a:endCxn id="18" idx="4"/>
              </p:cNvCxnSpPr>
              <p:nvPr/>
            </p:nvCxnSpPr>
            <p:spPr>
              <a:xfrm flipV="1">
                <a:off x="4639546" y="4853403"/>
                <a:ext cx="772396" cy="45138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Блок-схема: узел 17">
                <a:extLst>
                  <a:ext uri="{FF2B5EF4-FFF2-40B4-BE49-F238E27FC236}">
                    <a16:creationId xmlns:a16="http://schemas.microsoft.com/office/drawing/2014/main" id="{8ECB9682-464D-4398-B671-46810BA1C330}"/>
                  </a:ext>
                </a:extLst>
              </p:cNvPr>
              <p:cNvSpPr/>
              <p:nvPr/>
            </p:nvSpPr>
            <p:spPr>
              <a:xfrm>
                <a:off x="5079825" y="4215048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B5EFA8-5DEF-442E-B180-CFB42F11734B}"/>
                  </a:ext>
                </a:extLst>
              </p:cNvPr>
              <p:cNvSpPr txBox="1"/>
              <p:nvPr/>
            </p:nvSpPr>
            <p:spPr>
              <a:xfrm>
                <a:off x="5237732" y="4333290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5</a:t>
                </a:r>
              </a:p>
            </p:txBody>
          </p:sp>
          <p:cxnSp>
            <p:nvCxnSpPr>
              <p:cNvPr id="20" name="Прямая со стрелкой 19">
                <a:extLst>
                  <a:ext uri="{FF2B5EF4-FFF2-40B4-BE49-F238E27FC236}">
                    <a16:creationId xmlns:a16="http://schemas.microsoft.com/office/drawing/2014/main" id="{FE57C0C7-A34C-4FC8-9E51-DD0D98F4107D}"/>
                  </a:ext>
                </a:extLst>
              </p:cNvPr>
              <p:cNvCxnSpPr>
                <a:cxnSpLocks/>
                <a:stCxn id="8" idx="7"/>
                <a:endCxn id="18" idx="0"/>
              </p:cNvCxnSpPr>
              <p:nvPr/>
            </p:nvCxnSpPr>
            <p:spPr>
              <a:xfrm>
                <a:off x="4593722" y="3776466"/>
                <a:ext cx="818220" cy="438582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21" name="Блок-схема: узел 20">
              <a:extLst>
                <a:ext uri="{FF2B5EF4-FFF2-40B4-BE49-F238E27FC236}">
                  <a16:creationId xmlns:a16="http://schemas.microsoft.com/office/drawing/2014/main" id="{F75F39E6-72D9-4A7C-9673-3231449CB9A7}"/>
                </a:ext>
              </a:extLst>
            </p:cNvPr>
            <p:cNvSpPr/>
            <p:nvPr/>
          </p:nvSpPr>
          <p:spPr>
            <a:xfrm>
              <a:off x="1259356" y="5537926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3080EDD-55DE-E725-51CB-B7733EE8929B}"/>
                </a:ext>
              </a:extLst>
            </p:cNvPr>
            <p:cNvSpPr txBox="1"/>
            <p:nvPr/>
          </p:nvSpPr>
          <p:spPr>
            <a:xfrm>
              <a:off x="1934301" y="5447192"/>
              <a:ext cx="796593" cy="366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en-US" sz="1050" dirty="0"/>
                <a:t>1-2</a:t>
              </a:r>
              <a:r>
                <a:rPr lang="en-US" dirty="0"/>
                <a:t>=4</a:t>
              </a:r>
              <a:endParaRPr lang="ru-RU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6414830-38CA-6264-408F-25164F2D0ED5}"/>
                </a:ext>
              </a:extLst>
            </p:cNvPr>
            <p:cNvSpPr txBox="1"/>
            <p:nvPr/>
          </p:nvSpPr>
          <p:spPr>
            <a:xfrm rot="21122160">
              <a:off x="2403295" y="5043195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en-US" sz="1050" dirty="0"/>
                <a:t>1-3</a:t>
              </a:r>
              <a:r>
                <a:rPr lang="en-US" dirty="0"/>
                <a:t>=</a:t>
              </a:r>
              <a:r>
                <a:rPr lang="ru-RU" dirty="0"/>
                <a:t>7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E9BE869-4333-45A6-AB4C-0CDAB48A46A0}"/>
                </a:ext>
              </a:extLst>
            </p:cNvPr>
            <p:cNvSpPr txBox="1"/>
            <p:nvPr/>
          </p:nvSpPr>
          <p:spPr>
            <a:xfrm rot="20443283">
              <a:off x="3370604" y="5388999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2</a:t>
              </a:r>
              <a:r>
                <a:rPr lang="en-US" sz="1050" dirty="0"/>
                <a:t>-3</a:t>
              </a:r>
              <a:r>
                <a:rPr lang="en-US" dirty="0"/>
                <a:t>=</a:t>
              </a:r>
              <a:r>
                <a:rPr lang="ru-RU" dirty="0"/>
                <a:t>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FF06F45-494E-4238-0EEE-F7C26CC22D62}"/>
                </a:ext>
              </a:extLst>
            </p:cNvPr>
            <p:cNvSpPr txBox="1"/>
            <p:nvPr/>
          </p:nvSpPr>
          <p:spPr>
            <a:xfrm rot="1857723">
              <a:off x="4797649" y="5017234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3-5</a:t>
              </a:r>
              <a:r>
                <a:rPr lang="en-US" dirty="0"/>
                <a:t>=</a:t>
              </a:r>
              <a:r>
                <a:rPr lang="ru-RU" dirty="0"/>
                <a:t>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CD18831-CF87-F5E6-5EAC-88B498AB4646}"/>
                </a:ext>
              </a:extLst>
            </p:cNvPr>
            <p:cNvSpPr txBox="1"/>
            <p:nvPr/>
          </p:nvSpPr>
          <p:spPr>
            <a:xfrm rot="720598">
              <a:off x="2637215" y="6104895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1</a:t>
              </a:r>
              <a:r>
                <a:rPr lang="en-US" sz="1050" dirty="0"/>
                <a:t>-</a:t>
              </a:r>
              <a:r>
                <a:rPr lang="ru-RU" sz="1050" dirty="0"/>
                <a:t>4</a:t>
              </a:r>
              <a:r>
                <a:rPr lang="en-US" dirty="0"/>
                <a:t>=</a:t>
              </a:r>
              <a:r>
                <a:rPr lang="ru-RU" dirty="0"/>
                <a:t>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66DF0C2-18EF-4F8F-9F39-5EBDB290EFC9}"/>
                </a:ext>
              </a:extLst>
            </p:cNvPr>
            <p:cNvSpPr txBox="1"/>
            <p:nvPr/>
          </p:nvSpPr>
          <p:spPr>
            <a:xfrm rot="1224097">
              <a:off x="3523104" y="5805699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2</a:t>
              </a:r>
              <a:r>
                <a:rPr lang="en-US" sz="1050" dirty="0"/>
                <a:t>-</a:t>
              </a:r>
              <a:r>
                <a:rPr lang="ru-RU" sz="1050" dirty="0"/>
                <a:t>4</a:t>
              </a:r>
              <a:r>
                <a:rPr lang="en-US" dirty="0"/>
                <a:t>=</a:t>
              </a:r>
              <a:r>
                <a:rPr lang="ru-RU" dirty="0"/>
                <a:t>3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29A152C-C06F-B40E-1876-60E06B6B1E81}"/>
                </a:ext>
              </a:extLst>
            </p:cNvPr>
            <p:cNvSpPr txBox="1"/>
            <p:nvPr/>
          </p:nvSpPr>
          <p:spPr>
            <a:xfrm rot="20178267">
              <a:off x="4695997" y="6163478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4-5</a:t>
              </a:r>
              <a:r>
                <a:rPr lang="en-US" dirty="0"/>
                <a:t>=</a:t>
              </a:r>
              <a:r>
                <a:rPr lang="ru-RU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1071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BF2734E-D675-4BB0-94D4-D84255BA7639}"/>
              </a:ext>
            </a:extLst>
          </p:cNvPr>
          <p:cNvSpPr txBox="1">
            <a:spLocks/>
          </p:cNvSpPr>
          <p:nvPr/>
        </p:nvSpPr>
        <p:spPr>
          <a:xfrm>
            <a:off x="330201" y="370567"/>
            <a:ext cx="116924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Расчет параметров путей сетевого графика</a:t>
            </a:r>
            <a:endParaRPr lang="ru-RU" dirty="0"/>
          </a:p>
        </p:txBody>
      </p:sp>
      <p:graphicFrame>
        <p:nvGraphicFramePr>
          <p:cNvPr id="7" name="Таблица 4">
            <a:extLst>
              <a:ext uri="{FF2B5EF4-FFF2-40B4-BE49-F238E27FC236}">
                <a16:creationId xmlns:a16="http://schemas.microsoft.com/office/drawing/2014/main" id="{7D26870E-ADC6-4A78-BD46-9D2CA0279B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3186246"/>
              </p:ext>
            </p:extLst>
          </p:nvPr>
        </p:nvGraphicFramePr>
        <p:xfrm>
          <a:off x="918634" y="2054225"/>
          <a:ext cx="497416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766">
                  <a:extLst>
                    <a:ext uri="{9D8B030D-6E8A-4147-A177-3AD203B41FA5}">
                      <a16:colId xmlns:a16="http://schemas.microsoft.com/office/drawing/2014/main" val="3675872579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80098121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674994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№ пути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События пути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Продолжительность работ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798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1-2-3-5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4+4+3=11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883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1-2-4-5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4+3+2=9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507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7+3=10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867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5+2=7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477524"/>
                  </a:ext>
                </a:extLst>
              </a:tr>
            </a:tbl>
          </a:graphicData>
        </a:graphic>
      </p:graphicFrame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8CEA81FA-9B51-4AEF-9937-21451EB83DC9}"/>
              </a:ext>
            </a:extLst>
          </p:cNvPr>
          <p:cNvGrpSpPr/>
          <p:nvPr/>
        </p:nvGrpSpPr>
        <p:grpSpPr>
          <a:xfrm>
            <a:off x="6965889" y="2224365"/>
            <a:ext cx="4519649" cy="1783159"/>
            <a:chOff x="1259356" y="5017234"/>
            <a:chExt cx="4519649" cy="1783159"/>
          </a:xfrm>
        </p:grpSpPr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8E6258EB-5781-4036-A800-EB4B04D8637A}"/>
                </a:ext>
              </a:extLst>
            </p:cNvPr>
            <p:cNvGrpSpPr/>
            <p:nvPr/>
          </p:nvGrpSpPr>
          <p:grpSpPr>
            <a:xfrm>
              <a:off x="1375712" y="5085101"/>
              <a:ext cx="4403293" cy="1715292"/>
              <a:chOff x="1340766" y="3682981"/>
              <a:chExt cx="4403293" cy="1715292"/>
            </a:xfrm>
          </p:grpSpPr>
          <p:cxnSp>
            <p:nvCxnSpPr>
              <p:cNvPr id="18" name="Прямая со стрелкой 17">
                <a:extLst>
                  <a:ext uri="{FF2B5EF4-FFF2-40B4-BE49-F238E27FC236}">
                    <a16:creationId xmlns:a16="http://schemas.microsoft.com/office/drawing/2014/main" id="{72FA6EBE-8B53-4641-9233-25ED8CD29AAE}"/>
                  </a:ext>
                </a:extLst>
              </p:cNvPr>
              <p:cNvCxnSpPr>
                <a:cxnSpLocks/>
                <a:stCxn id="10" idx="6"/>
                <a:endCxn id="19" idx="2"/>
              </p:cNvCxnSpPr>
              <p:nvPr/>
            </p:nvCxnSpPr>
            <p:spPr>
              <a:xfrm>
                <a:off x="1888644" y="4454984"/>
                <a:ext cx="779242" cy="14118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9" name="Блок-схема: узел 18">
                <a:extLst>
                  <a:ext uri="{FF2B5EF4-FFF2-40B4-BE49-F238E27FC236}">
                    <a16:creationId xmlns:a16="http://schemas.microsoft.com/office/drawing/2014/main" id="{098CF4BC-BD5F-42A1-860F-C2CE23036844}"/>
                  </a:ext>
                </a:extLst>
              </p:cNvPr>
              <p:cNvSpPr/>
              <p:nvPr/>
            </p:nvSpPr>
            <p:spPr>
              <a:xfrm>
                <a:off x="2667886" y="4149924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20" name="Прямая со стрелкой 19">
                <a:extLst>
                  <a:ext uri="{FF2B5EF4-FFF2-40B4-BE49-F238E27FC236}">
                    <a16:creationId xmlns:a16="http://schemas.microsoft.com/office/drawing/2014/main" id="{E761422B-C588-4697-BC79-3A1D61B97180}"/>
                  </a:ext>
                </a:extLst>
              </p:cNvPr>
              <p:cNvCxnSpPr>
                <a:cxnSpLocks/>
                <a:stCxn id="10" idx="0"/>
              </p:cNvCxnSpPr>
              <p:nvPr/>
            </p:nvCxnSpPr>
            <p:spPr>
              <a:xfrm flipV="1">
                <a:off x="1540149" y="3805465"/>
                <a:ext cx="2570222" cy="33476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Блок-схема: узел 20">
                <a:extLst>
                  <a:ext uri="{FF2B5EF4-FFF2-40B4-BE49-F238E27FC236}">
                    <a16:creationId xmlns:a16="http://schemas.microsoft.com/office/drawing/2014/main" id="{DBBA4539-2378-4979-B0AF-47E464601A48}"/>
                  </a:ext>
                </a:extLst>
              </p:cNvPr>
              <p:cNvSpPr/>
              <p:nvPr/>
            </p:nvSpPr>
            <p:spPr>
              <a:xfrm>
                <a:off x="4026763" y="3682981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CC6B9B-45AB-41FD-9034-0F498DED024D}"/>
                  </a:ext>
                </a:extLst>
              </p:cNvPr>
              <p:cNvSpPr txBox="1"/>
              <p:nvPr/>
            </p:nvSpPr>
            <p:spPr>
              <a:xfrm>
                <a:off x="1340766" y="4284434"/>
                <a:ext cx="4708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 1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9B9E7CA-628C-4561-A23B-C44133AC5D6D}"/>
                  </a:ext>
                </a:extLst>
              </p:cNvPr>
              <p:cNvSpPr txBox="1"/>
              <p:nvPr/>
            </p:nvSpPr>
            <p:spPr>
              <a:xfrm flipH="1">
                <a:off x="2809628" y="4283295"/>
                <a:ext cx="456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2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85534F2-FA63-45F9-8850-8509DD18E7AE}"/>
                  </a:ext>
                </a:extLst>
              </p:cNvPr>
              <p:cNvSpPr txBox="1"/>
              <p:nvPr/>
            </p:nvSpPr>
            <p:spPr>
              <a:xfrm>
                <a:off x="4190508" y="3777082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3</a:t>
                </a:r>
              </a:p>
            </p:txBody>
          </p:sp>
          <p:cxnSp>
            <p:nvCxnSpPr>
              <p:cNvPr id="25" name="Прямая со стрелкой 24">
                <a:extLst>
                  <a:ext uri="{FF2B5EF4-FFF2-40B4-BE49-F238E27FC236}">
                    <a16:creationId xmlns:a16="http://schemas.microsoft.com/office/drawing/2014/main" id="{35D615D9-21EB-4B84-A23F-EE7B98D963CB}"/>
                  </a:ext>
                </a:extLst>
              </p:cNvPr>
              <p:cNvCxnSpPr>
                <a:stCxn id="19" idx="6"/>
              </p:cNvCxnSpPr>
              <p:nvPr/>
            </p:nvCxnSpPr>
            <p:spPr>
              <a:xfrm flipV="1">
                <a:off x="3332120" y="4198784"/>
                <a:ext cx="784601" cy="270318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 стрелкой 25">
                <a:extLst>
                  <a:ext uri="{FF2B5EF4-FFF2-40B4-BE49-F238E27FC236}">
                    <a16:creationId xmlns:a16="http://schemas.microsoft.com/office/drawing/2014/main" id="{A58DF0BA-9587-44EC-BD14-181D206EFB05}"/>
                  </a:ext>
                </a:extLst>
              </p:cNvPr>
              <p:cNvCxnSpPr>
                <a:endCxn id="27" idx="1"/>
              </p:cNvCxnSpPr>
              <p:nvPr/>
            </p:nvCxnSpPr>
            <p:spPr>
              <a:xfrm>
                <a:off x="3327580" y="4558860"/>
                <a:ext cx="842282" cy="29454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Блок-схема: узел 26">
                <a:extLst>
                  <a:ext uri="{FF2B5EF4-FFF2-40B4-BE49-F238E27FC236}">
                    <a16:creationId xmlns:a16="http://schemas.microsoft.com/office/drawing/2014/main" id="{0DA74F77-4E57-4755-B251-ED98EFCA1DD0}"/>
                  </a:ext>
                </a:extLst>
              </p:cNvPr>
              <p:cNvSpPr/>
              <p:nvPr/>
            </p:nvSpPr>
            <p:spPr>
              <a:xfrm>
                <a:off x="4072587" y="4759918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A1DB163-5D23-4ECA-80C9-CDDE348E9082}"/>
                  </a:ext>
                </a:extLst>
              </p:cNvPr>
              <p:cNvSpPr txBox="1"/>
              <p:nvPr/>
            </p:nvSpPr>
            <p:spPr>
              <a:xfrm>
                <a:off x="4262357" y="4925588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4</a:t>
                </a:r>
              </a:p>
            </p:txBody>
          </p:sp>
          <p:cxnSp>
            <p:nvCxnSpPr>
              <p:cNvPr id="29" name="Прямая со стрелкой 28">
                <a:extLst>
                  <a:ext uri="{FF2B5EF4-FFF2-40B4-BE49-F238E27FC236}">
                    <a16:creationId xmlns:a16="http://schemas.microsoft.com/office/drawing/2014/main" id="{CE1513FC-292A-4B28-AF69-EBBBA11C2C4C}"/>
                  </a:ext>
                </a:extLst>
              </p:cNvPr>
              <p:cNvCxnSpPr>
                <a:cxnSpLocks/>
                <a:stCxn id="10" idx="4"/>
              </p:cNvCxnSpPr>
              <p:nvPr/>
            </p:nvCxnSpPr>
            <p:spPr>
              <a:xfrm>
                <a:off x="1490445" y="4778587"/>
                <a:ext cx="2631581" cy="44519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 стрелкой 29">
                <a:extLst>
                  <a:ext uri="{FF2B5EF4-FFF2-40B4-BE49-F238E27FC236}">
                    <a16:creationId xmlns:a16="http://schemas.microsoft.com/office/drawing/2014/main" id="{19B666E3-1AE5-470B-8D04-BFFA2A124601}"/>
                  </a:ext>
                </a:extLst>
              </p:cNvPr>
              <p:cNvCxnSpPr>
                <a:cxnSpLocks/>
                <a:stCxn id="27" idx="5"/>
                <a:endCxn id="31" idx="4"/>
              </p:cNvCxnSpPr>
              <p:nvPr/>
            </p:nvCxnSpPr>
            <p:spPr>
              <a:xfrm flipV="1">
                <a:off x="4639546" y="4853403"/>
                <a:ext cx="772396" cy="45138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Блок-схема: узел 30">
                <a:extLst>
                  <a:ext uri="{FF2B5EF4-FFF2-40B4-BE49-F238E27FC236}">
                    <a16:creationId xmlns:a16="http://schemas.microsoft.com/office/drawing/2014/main" id="{CE049B0A-676A-4FEB-A5A7-F653BF818379}"/>
                  </a:ext>
                </a:extLst>
              </p:cNvPr>
              <p:cNvSpPr/>
              <p:nvPr/>
            </p:nvSpPr>
            <p:spPr>
              <a:xfrm>
                <a:off x="5079825" y="4215048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E255470-17AB-4906-B4F7-B35D4F9AEDC3}"/>
                  </a:ext>
                </a:extLst>
              </p:cNvPr>
              <p:cNvSpPr txBox="1"/>
              <p:nvPr/>
            </p:nvSpPr>
            <p:spPr>
              <a:xfrm>
                <a:off x="5237732" y="4333290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5</a:t>
                </a:r>
              </a:p>
            </p:txBody>
          </p:sp>
          <p:cxnSp>
            <p:nvCxnSpPr>
              <p:cNvPr id="33" name="Прямая со стрелкой 32">
                <a:extLst>
                  <a:ext uri="{FF2B5EF4-FFF2-40B4-BE49-F238E27FC236}">
                    <a16:creationId xmlns:a16="http://schemas.microsoft.com/office/drawing/2014/main" id="{D10E13FD-190F-44E5-A36F-883C88C159EF}"/>
                  </a:ext>
                </a:extLst>
              </p:cNvPr>
              <p:cNvCxnSpPr>
                <a:cxnSpLocks/>
                <a:stCxn id="21" idx="7"/>
                <a:endCxn id="31" idx="0"/>
              </p:cNvCxnSpPr>
              <p:nvPr/>
            </p:nvCxnSpPr>
            <p:spPr>
              <a:xfrm>
                <a:off x="4593722" y="3776466"/>
                <a:ext cx="818220" cy="438582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10" name="Блок-схема: узел 9">
              <a:extLst>
                <a:ext uri="{FF2B5EF4-FFF2-40B4-BE49-F238E27FC236}">
                  <a16:creationId xmlns:a16="http://schemas.microsoft.com/office/drawing/2014/main" id="{12C0F462-9581-4A6C-9012-F4C49462000D}"/>
                </a:ext>
              </a:extLst>
            </p:cNvPr>
            <p:cNvSpPr/>
            <p:nvPr/>
          </p:nvSpPr>
          <p:spPr>
            <a:xfrm>
              <a:off x="1259356" y="5537926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A0A374C-AC18-4036-9614-750B488812EF}"/>
                </a:ext>
              </a:extLst>
            </p:cNvPr>
            <p:cNvSpPr txBox="1"/>
            <p:nvPr/>
          </p:nvSpPr>
          <p:spPr>
            <a:xfrm>
              <a:off x="1934301" y="5447192"/>
              <a:ext cx="796593" cy="366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en-US" sz="1050" dirty="0"/>
                <a:t>1-2</a:t>
              </a:r>
              <a:r>
                <a:rPr lang="en-US" dirty="0"/>
                <a:t>=4</a:t>
              </a:r>
              <a:endParaRPr lang="ru-RU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36EB63A-2D58-4B65-B183-D7C89F20E57D}"/>
                </a:ext>
              </a:extLst>
            </p:cNvPr>
            <p:cNvSpPr txBox="1"/>
            <p:nvPr/>
          </p:nvSpPr>
          <p:spPr>
            <a:xfrm rot="21122160">
              <a:off x="2403295" y="5043195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en-US" sz="1050" dirty="0"/>
                <a:t>1-3</a:t>
              </a:r>
              <a:r>
                <a:rPr lang="en-US" dirty="0"/>
                <a:t>=</a:t>
              </a:r>
              <a:r>
                <a:rPr lang="ru-RU" dirty="0"/>
                <a:t>7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584D6C9-14ED-4C17-AE2D-2DAEB386DF20}"/>
                </a:ext>
              </a:extLst>
            </p:cNvPr>
            <p:cNvSpPr txBox="1"/>
            <p:nvPr/>
          </p:nvSpPr>
          <p:spPr>
            <a:xfrm rot="20443283">
              <a:off x="3285755" y="5306069"/>
              <a:ext cx="723556" cy="369332"/>
            </a:xfrm>
            <a:prstGeom prst="rect">
              <a:avLst/>
            </a:prstGeom>
            <a:ln w="190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2</a:t>
              </a:r>
              <a:r>
                <a:rPr lang="en-US" sz="1050" dirty="0"/>
                <a:t>-3</a:t>
              </a:r>
              <a:r>
                <a:rPr lang="en-US" dirty="0"/>
                <a:t>=</a:t>
              </a:r>
              <a:r>
                <a:rPr lang="ru-RU" dirty="0"/>
                <a:t>4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7A7C7D-18CC-42A6-B1BA-01315389D00D}"/>
                </a:ext>
              </a:extLst>
            </p:cNvPr>
            <p:cNvSpPr txBox="1"/>
            <p:nvPr/>
          </p:nvSpPr>
          <p:spPr>
            <a:xfrm rot="1857723">
              <a:off x="4797649" y="5017234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3-5</a:t>
              </a:r>
              <a:r>
                <a:rPr lang="en-US" dirty="0"/>
                <a:t>=</a:t>
              </a:r>
              <a:r>
                <a:rPr lang="ru-RU" dirty="0"/>
                <a:t>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886D3D0-D001-4AAD-B468-B2F30A9C6D71}"/>
                </a:ext>
              </a:extLst>
            </p:cNvPr>
            <p:cNvSpPr txBox="1"/>
            <p:nvPr/>
          </p:nvSpPr>
          <p:spPr>
            <a:xfrm rot="720598">
              <a:off x="2637215" y="6104895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1</a:t>
              </a:r>
              <a:r>
                <a:rPr lang="en-US" sz="1050" dirty="0"/>
                <a:t>-</a:t>
              </a:r>
              <a:r>
                <a:rPr lang="ru-RU" sz="1050" dirty="0"/>
                <a:t>4</a:t>
              </a:r>
              <a:r>
                <a:rPr lang="en-US" dirty="0"/>
                <a:t>=</a:t>
              </a:r>
              <a:r>
                <a:rPr lang="ru-RU" dirty="0"/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F7C68D2-6544-4DEE-996B-866BE66DF74F}"/>
                </a:ext>
              </a:extLst>
            </p:cNvPr>
            <p:cNvSpPr txBox="1"/>
            <p:nvPr/>
          </p:nvSpPr>
          <p:spPr>
            <a:xfrm rot="1224097">
              <a:off x="3523104" y="5805699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2</a:t>
              </a:r>
              <a:r>
                <a:rPr lang="en-US" sz="1050" dirty="0"/>
                <a:t>-</a:t>
              </a:r>
              <a:r>
                <a:rPr lang="ru-RU" sz="1050" dirty="0"/>
                <a:t>4</a:t>
              </a:r>
              <a:r>
                <a:rPr lang="en-US" dirty="0"/>
                <a:t>=</a:t>
              </a:r>
              <a:r>
                <a:rPr lang="ru-RU" dirty="0"/>
                <a:t>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66A3C3-7CD6-498D-8930-6DC108FF13DF}"/>
                </a:ext>
              </a:extLst>
            </p:cNvPr>
            <p:cNvSpPr txBox="1"/>
            <p:nvPr/>
          </p:nvSpPr>
          <p:spPr>
            <a:xfrm rot="20178267">
              <a:off x="4695997" y="6163478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4-5</a:t>
              </a:r>
              <a:r>
                <a:rPr lang="en-US" dirty="0"/>
                <a:t>=</a:t>
              </a:r>
              <a:r>
                <a:rPr lang="ru-RU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6632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753C9-32FC-45B3-8076-5A8B7442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Критический путь сетевого графика и резервы времени</a:t>
            </a:r>
            <a:br>
              <a:rPr lang="ru-RU" dirty="0"/>
            </a:b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B7E1611-3375-4B4F-8B8C-5AD4C95A4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Максимально продолжительный путь исходного до завершающего (критический путь). Для нашего примера: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dirty="0">
                            <a:latin typeface="Cambria Math" panose="02040503050406030204" pitchFamily="18" charset="0"/>
                          </a:rPr>
                          <m:t>кр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(1 – 2 – 3 – 5) = 11 единиц времени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b="0" i="0" dirty="0" smtClean="0">
                            <a:latin typeface="Cambria Math" panose="02040503050406030204" pitchFamily="18" charset="0"/>
                          </a:rPr>
                          <m:t>кр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ax</m:t>
                    </m:r>
                    <m:nary>
                      <m:naryPr>
                        <m:chr m:val="∑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dirty="0"/>
                  <a:t>.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B7E1611-3375-4B4F-8B8C-5AD4C95A4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C8C281-29AB-4105-B13B-E83C6A7B0D37}"/>
                  </a:ext>
                </a:extLst>
              </p:cNvPr>
              <p:cNvSpPr txBox="1"/>
              <p:nvPr/>
            </p:nvSpPr>
            <p:spPr>
              <a:xfrm>
                <a:off x="2637367" y="3534233"/>
                <a:ext cx="6096000" cy="967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ru-RU" dirty="0"/>
                  <a:t>Резерв времени каждого пути равен разнице между продолжительностью критического пути и</a:t>
                </a:r>
                <a:r>
                  <a:rPr lang="en-US" dirty="0"/>
                  <a:t> </a:t>
                </a:r>
                <a:r>
                  <a:rPr lang="ru-RU" dirty="0"/>
                  <a:t>данным путем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u-RU" dirty="0">
                                <a:latin typeface="Cambria Math" panose="02040503050406030204" pitchFamily="18" charset="0"/>
                              </a:rPr>
                              <m:t>кр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C8C281-29AB-4105-B13B-E83C6A7B0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367" y="3534233"/>
                <a:ext cx="6096000" cy="967957"/>
              </a:xfrm>
              <a:prstGeom prst="rect">
                <a:avLst/>
              </a:prstGeom>
              <a:blipFill>
                <a:blip r:embed="rId3"/>
                <a:stretch>
                  <a:fillRect l="-900" t="-3774" r="-800" b="-18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C47422B3-791B-4C34-BB13-04BD0D5ACF98}"/>
              </a:ext>
            </a:extLst>
          </p:cNvPr>
          <p:cNvSpPr txBox="1"/>
          <p:nvPr/>
        </p:nvSpPr>
        <p:spPr>
          <a:xfrm>
            <a:off x="3556000" y="4745633"/>
            <a:ext cx="42587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buFont typeface="Wingdings" panose="05000000000000000000" pitchFamily="2" charset="2"/>
              <a:buChar char="§"/>
              <a:defRPr>
                <a:solidFill>
                  <a:srgbClr val="FF0000"/>
                </a:solidFill>
              </a:defRPr>
            </a:lvl1pPr>
          </a:lstStyle>
          <a:p>
            <a:pPr>
              <a:buNone/>
            </a:pPr>
            <a:r>
              <a:rPr lang="ru-RU" dirty="0"/>
              <a:t>Продолжение упражнения.</a:t>
            </a:r>
          </a:p>
          <a:p>
            <a:r>
              <a:rPr lang="ru-RU" dirty="0"/>
              <a:t>Рассчитайте резервы времени каждого пути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4B7DE7-E17E-4FBD-B8B5-A58B0E6D9143}"/>
              </a:ext>
            </a:extLst>
          </p:cNvPr>
          <p:cNvSpPr txBox="1"/>
          <p:nvPr/>
        </p:nvSpPr>
        <p:spPr>
          <a:xfrm>
            <a:off x="1058333" y="5668963"/>
            <a:ext cx="9533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Работы, не имеющие резерва времени требуют особого внимания к срокам исполнения, так как их задержка может привести к нарушению сроков проекта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578210-39A4-42BC-9547-11D93BBC57E7}"/>
              </a:ext>
            </a:extLst>
          </p:cNvPr>
          <p:cNvSpPr txBox="1"/>
          <p:nvPr/>
        </p:nvSpPr>
        <p:spPr>
          <a:xfrm>
            <a:off x="10464800" y="5308600"/>
            <a:ext cx="88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800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11824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231061-531A-46E0-9880-3E64F39B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7500"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Расчет резервов времени путей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89ED5152-5CE8-4138-88DB-042FF91855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5015871"/>
              </p:ext>
            </p:extLst>
          </p:nvPr>
        </p:nvGraphicFramePr>
        <p:xfrm>
          <a:off x="838200" y="1825625"/>
          <a:ext cx="69088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333">
                  <a:extLst>
                    <a:ext uri="{9D8B030D-6E8A-4147-A177-3AD203B41FA5}">
                      <a16:colId xmlns:a16="http://schemas.microsoft.com/office/drawing/2014/main" val="36758725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0098121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674994294"/>
                    </a:ext>
                  </a:extLst>
                </a:gridCol>
                <a:gridCol w="1684867">
                  <a:extLst>
                    <a:ext uri="{9D8B030D-6E8A-4147-A177-3AD203B41FA5}">
                      <a16:colId xmlns:a16="http://schemas.microsoft.com/office/drawing/2014/main" val="2470879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№ пути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События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Продолжительность событий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Резерв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798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1-2-3-5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4+4+3=11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11-11=0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883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1-2-4-5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4+3+2=9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11-9=2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507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7+3=10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11-10=1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867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5+2=7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11-7=4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477524"/>
                  </a:ext>
                </a:extLst>
              </a:tr>
            </a:tbl>
          </a:graphicData>
        </a:graphic>
      </p:graphicFrame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E503DC92-2A8A-4B99-AACB-87CD9D9DD5D2}"/>
              </a:ext>
            </a:extLst>
          </p:cNvPr>
          <p:cNvGrpSpPr/>
          <p:nvPr/>
        </p:nvGrpSpPr>
        <p:grpSpPr>
          <a:xfrm>
            <a:off x="4823822" y="4579589"/>
            <a:ext cx="4519649" cy="1783159"/>
            <a:chOff x="1259356" y="5017234"/>
            <a:chExt cx="4519649" cy="1783159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FC52B3D2-7A4E-45FF-AB59-DC864A7D4ABC}"/>
                </a:ext>
              </a:extLst>
            </p:cNvPr>
            <p:cNvGrpSpPr/>
            <p:nvPr/>
          </p:nvGrpSpPr>
          <p:grpSpPr>
            <a:xfrm>
              <a:off x="1375712" y="5085101"/>
              <a:ext cx="4403293" cy="1715292"/>
              <a:chOff x="1340766" y="3682981"/>
              <a:chExt cx="4403293" cy="1715292"/>
            </a:xfrm>
          </p:grpSpPr>
          <p:cxnSp>
            <p:nvCxnSpPr>
              <p:cNvPr id="15" name="Прямая со стрелкой 14">
                <a:extLst>
                  <a:ext uri="{FF2B5EF4-FFF2-40B4-BE49-F238E27FC236}">
                    <a16:creationId xmlns:a16="http://schemas.microsoft.com/office/drawing/2014/main" id="{9AC4CB33-B10F-45F4-8C08-79A52E355748}"/>
                  </a:ext>
                </a:extLst>
              </p:cNvPr>
              <p:cNvCxnSpPr>
                <a:cxnSpLocks/>
                <a:stCxn id="7" idx="6"/>
                <a:endCxn id="16" idx="2"/>
              </p:cNvCxnSpPr>
              <p:nvPr/>
            </p:nvCxnSpPr>
            <p:spPr>
              <a:xfrm>
                <a:off x="1888644" y="4454984"/>
                <a:ext cx="779242" cy="14118"/>
              </a:xfrm>
              <a:prstGeom prst="straightConnector1">
                <a:avLst/>
              </a:prstGeom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6" name="Блок-схема: узел 15">
                <a:extLst>
                  <a:ext uri="{FF2B5EF4-FFF2-40B4-BE49-F238E27FC236}">
                    <a16:creationId xmlns:a16="http://schemas.microsoft.com/office/drawing/2014/main" id="{440BDCCA-6EB5-41F3-AF92-6B687AFBDDFB}"/>
                  </a:ext>
                </a:extLst>
              </p:cNvPr>
              <p:cNvSpPr/>
              <p:nvPr/>
            </p:nvSpPr>
            <p:spPr>
              <a:xfrm>
                <a:off x="2667886" y="4149924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7" name="Прямая со стрелкой 16">
                <a:extLst>
                  <a:ext uri="{FF2B5EF4-FFF2-40B4-BE49-F238E27FC236}">
                    <a16:creationId xmlns:a16="http://schemas.microsoft.com/office/drawing/2014/main" id="{0B5CAB2F-5E5F-4A18-B1E1-05C9F4E5FBC2}"/>
                  </a:ext>
                </a:extLst>
              </p:cNvPr>
              <p:cNvCxnSpPr>
                <a:cxnSpLocks/>
                <a:stCxn id="7" idx="0"/>
              </p:cNvCxnSpPr>
              <p:nvPr/>
            </p:nvCxnSpPr>
            <p:spPr>
              <a:xfrm flipV="1">
                <a:off x="1540149" y="3805465"/>
                <a:ext cx="2570222" cy="33476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Блок-схема: узел 17">
                <a:extLst>
                  <a:ext uri="{FF2B5EF4-FFF2-40B4-BE49-F238E27FC236}">
                    <a16:creationId xmlns:a16="http://schemas.microsoft.com/office/drawing/2014/main" id="{E5043D8C-E0F4-4D0E-9470-91E6A39E22BB}"/>
                  </a:ext>
                </a:extLst>
              </p:cNvPr>
              <p:cNvSpPr/>
              <p:nvPr/>
            </p:nvSpPr>
            <p:spPr>
              <a:xfrm>
                <a:off x="4026763" y="3682981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A04A95-A16D-4DC3-93EE-C50DE20EFE40}"/>
                  </a:ext>
                </a:extLst>
              </p:cNvPr>
              <p:cNvSpPr txBox="1"/>
              <p:nvPr/>
            </p:nvSpPr>
            <p:spPr>
              <a:xfrm>
                <a:off x="1340766" y="4284434"/>
                <a:ext cx="4708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 1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38B768-B189-4CC2-8C0A-C1B3F1849F22}"/>
                  </a:ext>
                </a:extLst>
              </p:cNvPr>
              <p:cNvSpPr txBox="1"/>
              <p:nvPr/>
            </p:nvSpPr>
            <p:spPr>
              <a:xfrm flipH="1">
                <a:off x="2809628" y="4283295"/>
                <a:ext cx="456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2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D0E5D5-CCE6-4EB3-89C0-88B889515AD8}"/>
                  </a:ext>
                </a:extLst>
              </p:cNvPr>
              <p:cNvSpPr txBox="1"/>
              <p:nvPr/>
            </p:nvSpPr>
            <p:spPr>
              <a:xfrm>
                <a:off x="4190508" y="3777082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3</a:t>
                </a:r>
              </a:p>
            </p:txBody>
          </p:sp>
          <p:cxnSp>
            <p:nvCxnSpPr>
              <p:cNvPr id="22" name="Прямая со стрелкой 21">
                <a:extLst>
                  <a:ext uri="{FF2B5EF4-FFF2-40B4-BE49-F238E27FC236}">
                    <a16:creationId xmlns:a16="http://schemas.microsoft.com/office/drawing/2014/main" id="{D572DAD3-16AF-40BE-806E-2E15B50564A9}"/>
                  </a:ext>
                </a:extLst>
              </p:cNvPr>
              <p:cNvCxnSpPr>
                <a:stCxn id="16" idx="6"/>
              </p:cNvCxnSpPr>
              <p:nvPr/>
            </p:nvCxnSpPr>
            <p:spPr>
              <a:xfrm flipV="1">
                <a:off x="3332120" y="4198784"/>
                <a:ext cx="784601" cy="270318"/>
              </a:xfrm>
              <a:prstGeom prst="straightConnector1">
                <a:avLst/>
              </a:prstGeom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 стрелкой 22">
                <a:extLst>
                  <a:ext uri="{FF2B5EF4-FFF2-40B4-BE49-F238E27FC236}">
                    <a16:creationId xmlns:a16="http://schemas.microsoft.com/office/drawing/2014/main" id="{1E8D1FC7-57C7-4E66-A446-CC73FC1704D8}"/>
                  </a:ext>
                </a:extLst>
              </p:cNvPr>
              <p:cNvCxnSpPr>
                <a:endCxn id="24" idx="1"/>
              </p:cNvCxnSpPr>
              <p:nvPr/>
            </p:nvCxnSpPr>
            <p:spPr>
              <a:xfrm>
                <a:off x="3327580" y="4558860"/>
                <a:ext cx="842282" cy="29454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Блок-схема: узел 23">
                <a:extLst>
                  <a:ext uri="{FF2B5EF4-FFF2-40B4-BE49-F238E27FC236}">
                    <a16:creationId xmlns:a16="http://schemas.microsoft.com/office/drawing/2014/main" id="{BAAB9863-C227-4071-975E-2B9D2FF653C1}"/>
                  </a:ext>
                </a:extLst>
              </p:cNvPr>
              <p:cNvSpPr/>
              <p:nvPr/>
            </p:nvSpPr>
            <p:spPr>
              <a:xfrm>
                <a:off x="4072587" y="4759918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B5E2F5E-AB33-4BDB-BBEB-90613718F00D}"/>
                  </a:ext>
                </a:extLst>
              </p:cNvPr>
              <p:cNvSpPr txBox="1"/>
              <p:nvPr/>
            </p:nvSpPr>
            <p:spPr>
              <a:xfrm>
                <a:off x="4262357" y="4925588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4</a:t>
                </a:r>
              </a:p>
            </p:txBody>
          </p:sp>
          <p:cxnSp>
            <p:nvCxnSpPr>
              <p:cNvPr id="26" name="Прямая со стрелкой 25">
                <a:extLst>
                  <a:ext uri="{FF2B5EF4-FFF2-40B4-BE49-F238E27FC236}">
                    <a16:creationId xmlns:a16="http://schemas.microsoft.com/office/drawing/2014/main" id="{CCC65545-E686-4932-881F-B2A3918C229A}"/>
                  </a:ext>
                </a:extLst>
              </p:cNvPr>
              <p:cNvCxnSpPr>
                <a:cxnSpLocks/>
                <a:stCxn id="7" idx="4"/>
              </p:cNvCxnSpPr>
              <p:nvPr/>
            </p:nvCxnSpPr>
            <p:spPr>
              <a:xfrm>
                <a:off x="1490445" y="4778587"/>
                <a:ext cx="2631581" cy="44519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 стрелкой 26">
                <a:extLst>
                  <a:ext uri="{FF2B5EF4-FFF2-40B4-BE49-F238E27FC236}">
                    <a16:creationId xmlns:a16="http://schemas.microsoft.com/office/drawing/2014/main" id="{B40A96A7-78A1-4323-A32A-5E8FF27657BF}"/>
                  </a:ext>
                </a:extLst>
              </p:cNvPr>
              <p:cNvCxnSpPr>
                <a:cxnSpLocks/>
                <a:stCxn id="24" idx="5"/>
                <a:endCxn id="28" idx="4"/>
              </p:cNvCxnSpPr>
              <p:nvPr/>
            </p:nvCxnSpPr>
            <p:spPr>
              <a:xfrm flipV="1">
                <a:off x="4639546" y="4853403"/>
                <a:ext cx="772396" cy="45138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Блок-схема: узел 27">
                <a:extLst>
                  <a:ext uri="{FF2B5EF4-FFF2-40B4-BE49-F238E27FC236}">
                    <a16:creationId xmlns:a16="http://schemas.microsoft.com/office/drawing/2014/main" id="{AC0F9F7B-65F2-4C9D-B01C-2E939562BDDC}"/>
                  </a:ext>
                </a:extLst>
              </p:cNvPr>
              <p:cNvSpPr/>
              <p:nvPr/>
            </p:nvSpPr>
            <p:spPr>
              <a:xfrm>
                <a:off x="5079825" y="4215048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928C562-1D4A-4273-BB79-8C66F574CAC3}"/>
                  </a:ext>
                </a:extLst>
              </p:cNvPr>
              <p:cNvSpPr txBox="1"/>
              <p:nvPr/>
            </p:nvSpPr>
            <p:spPr>
              <a:xfrm>
                <a:off x="5237732" y="4333290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5</a:t>
                </a:r>
              </a:p>
            </p:txBody>
          </p:sp>
          <p:cxnSp>
            <p:nvCxnSpPr>
              <p:cNvPr id="30" name="Прямая со стрелкой 29">
                <a:extLst>
                  <a:ext uri="{FF2B5EF4-FFF2-40B4-BE49-F238E27FC236}">
                    <a16:creationId xmlns:a16="http://schemas.microsoft.com/office/drawing/2014/main" id="{BAD18DF5-530C-41D9-B37E-28A2D8259423}"/>
                  </a:ext>
                </a:extLst>
              </p:cNvPr>
              <p:cNvCxnSpPr>
                <a:cxnSpLocks/>
                <a:stCxn id="18" idx="7"/>
                <a:endCxn id="28" idx="0"/>
              </p:cNvCxnSpPr>
              <p:nvPr/>
            </p:nvCxnSpPr>
            <p:spPr>
              <a:xfrm>
                <a:off x="4593722" y="3776466"/>
                <a:ext cx="818220" cy="438582"/>
              </a:xfrm>
              <a:prstGeom prst="straightConnector1">
                <a:avLst/>
              </a:prstGeom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7" name="Блок-схема: узел 6">
              <a:extLst>
                <a:ext uri="{FF2B5EF4-FFF2-40B4-BE49-F238E27FC236}">
                  <a16:creationId xmlns:a16="http://schemas.microsoft.com/office/drawing/2014/main" id="{264FEEFD-FC76-400C-A485-0B6F64585D70}"/>
                </a:ext>
              </a:extLst>
            </p:cNvPr>
            <p:cNvSpPr/>
            <p:nvPr/>
          </p:nvSpPr>
          <p:spPr>
            <a:xfrm>
              <a:off x="1259356" y="5537926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ECD9F9-C18D-4E8E-85A2-A1C193825D5F}"/>
                </a:ext>
              </a:extLst>
            </p:cNvPr>
            <p:cNvSpPr txBox="1"/>
            <p:nvPr/>
          </p:nvSpPr>
          <p:spPr>
            <a:xfrm>
              <a:off x="1934301" y="5447192"/>
              <a:ext cx="796593" cy="366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en-US" sz="1050" dirty="0"/>
                <a:t>1-2</a:t>
              </a:r>
              <a:r>
                <a:rPr lang="en-US" dirty="0"/>
                <a:t>=4</a:t>
              </a:r>
              <a:endParaRPr lang="ru-RU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83525DC-D0C4-49F8-8ACC-4E9AEA192F7E}"/>
                </a:ext>
              </a:extLst>
            </p:cNvPr>
            <p:cNvSpPr txBox="1"/>
            <p:nvPr/>
          </p:nvSpPr>
          <p:spPr>
            <a:xfrm rot="21122160">
              <a:off x="2403295" y="5043195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en-US" sz="1050" dirty="0"/>
                <a:t>1-3</a:t>
              </a:r>
              <a:r>
                <a:rPr lang="en-US" dirty="0"/>
                <a:t>=</a:t>
              </a:r>
              <a:r>
                <a:rPr lang="ru-RU" dirty="0"/>
                <a:t>7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EDE3DD-00FC-4C98-90E6-C305F4684F28}"/>
                </a:ext>
              </a:extLst>
            </p:cNvPr>
            <p:cNvSpPr txBox="1"/>
            <p:nvPr/>
          </p:nvSpPr>
          <p:spPr>
            <a:xfrm rot="20443283">
              <a:off x="3371358" y="5303586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2</a:t>
              </a:r>
              <a:r>
                <a:rPr lang="en-US" sz="1050" dirty="0"/>
                <a:t>-3</a:t>
              </a:r>
              <a:r>
                <a:rPr lang="en-US" dirty="0"/>
                <a:t>=</a:t>
              </a:r>
              <a:r>
                <a:rPr lang="ru-RU" dirty="0"/>
                <a:t>4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A1DACD-61A2-4DC3-B77C-45926491B898}"/>
                </a:ext>
              </a:extLst>
            </p:cNvPr>
            <p:cNvSpPr txBox="1"/>
            <p:nvPr/>
          </p:nvSpPr>
          <p:spPr>
            <a:xfrm rot="1857723">
              <a:off x="4797649" y="5017234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3-5</a:t>
              </a:r>
              <a:r>
                <a:rPr lang="en-US" dirty="0"/>
                <a:t>=</a:t>
              </a:r>
              <a:r>
                <a:rPr lang="ru-RU" dirty="0"/>
                <a:t>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6E8C34D-836B-4A8C-B86F-B1AB6F03DE13}"/>
                </a:ext>
              </a:extLst>
            </p:cNvPr>
            <p:cNvSpPr txBox="1"/>
            <p:nvPr/>
          </p:nvSpPr>
          <p:spPr>
            <a:xfrm rot="720598">
              <a:off x="2637215" y="6104895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1</a:t>
              </a:r>
              <a:r>
                <a:rPr lang="en-US" sz="1050" dirty="0"/>
                <a:t>-</a:t>
              </a:r>
              <a:r>
                <a:rPr lang="ru-RU" sz="1050" dirty="0"/>
                <a:t>4</a:t>
              </a:r>
              <a:r>
                <a:rPr lang="en-US" dirty="0"/>
                <a:t>=</a:t>
              </a:r>
              <a:r>
                <a:rPr lang="ru-RU" dirty="0"/>
                <a:t>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E83DCE2-82C1-4680-B39B-E6B21BA8BD14}"/>
                </a:ext>
              </a:extLst>
            </p:cNvPr>
            <p:cNvSpPr txBox="1"/>
            <p:nvPr/>
          </p:nvSpPr>
          <p:spPr>
            <a:xfrm rot="1224097">
              <a:off x="3523104" y="5805699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2</a:t>
              </a:r>
              <a:r>
                <a:rPr lang="en-US" sz="1050" dirty="0"/>
                <a:t>-</a:t>
              </a:r>
              <a:r>
                <a:rPr lang="ru-RU" sz="1050" dirty="0"/>
                <a:t>4</a:t>
              </a:r>
              <a:r>
                <a:rPr lang="en-US" dirty="0"/>
                <a:t>=</a:t>
              </a:r>
              <a:r>
                <a:rPr lang="ru-RU" dirty="0"/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7BDE61-ADAD-47BB-9294-0B86BB55CDD0}"/>
                </a:ext>
              </a:extLst>
            </p:cNvPr>
            <p:cNvSpPr txBox="1"/>
            <p:nvPr/>
          </p:nvSpPr>
          <p:spPr>
            <a:xfrm rot="20178267">
              <a:off x="4695997" y="6163478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4-5</a:t>
              </a:r>
              <a:r>
                <a:rPr lang="en-US" dirty="0"/>
                <a:t>=</a:t>
              </a:r>
              <a:r>
                <a:rPr lang="ru-RU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4142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11C1C-A30A-9727-FF1E-11D91BB2C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CF5D4-2727-C20A-D601-DEF567C1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6883"/>
            <a:ext cx="11184467" cy="1325563"/>
          </a:xfrm>
        </p:spPr>
        <p:txBody>
          <a:bodyPr/>
          <a:lstStyle/>
          <a:p>
            <a:r>
              <a:rPr lang="ru-RU" sz="4400" dirty="0">
                <a:solidFill>
                  <a:srgbClr val="002060"/>
                </a:solidFill>
                <a:latin typeface="Raleway Black"/>
              </a:rPr>
              <a:t>Расчет параметров сетевой модели (вариант В): ранние сроки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41EF05-7D51-42D1-86CB-68C1BC5B2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91296"/>
            <a:ext cx="10515600" cy="33320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sz="1800" dirty="0"/>
              <a:t>Порядок расчета ранних сроков событий сетевого графика и ранних сроков начала и окончания работ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 Раннее начало первого события  принимается за нулевое значение. Раннее окончание всех работ, которые начинаются с этого события ( в данном примере работы 1-2, 1-3, 1-4), равно раннее начало +норма времени на работу, начинающуюся с данного события.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Этот же срок считается моментом свершения события, завершающего работу и ранним началом работ, которые будут производится после свершения события.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Раннее окончание любых работ равно раннее начало +норма времени на работу, начинающуюся с данного события.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Если для свершения события необходимо выполнение нескольких работ (Например, событие 3 рис.1), то ранний срок свершения события равно максимальному значению времени раннего окончания всех работ, необходимых для свершения события. Такое правило отражает причинно-следственную связь. Событие не может свершиться пока не закончатся все работы, необходимые для его свершения. Например, проект может быть утвержден после выполнения расчетов аналитическим способом, расчетов с использованием ПО и после визуализации модели. Пока все эти работы не будут выполнены, проект не будет утвержден. Поэтому срок свершения – максимальное значение из ранних сроков завершения всех необходимых работ.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Этот срок считается моментом свершения события, завершающего несколько работ и ранним началом работ, которые будут производится после свершения события.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Продолжительность всей совокупности работ равна раннему сроку свершения последнего события (событие 5).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ru-RU" sz="1400" dirty="0"/>
          </a:p>
          <a:p>
            <a:pPr algn="just">
              <a:buFont typeface="Wingdings" panose="05000000000000000000" pitchFamily="2" charset="2"/>
              <a:buChar char="§"/>
            </a:pPr>
            <a:endParaRPr lang="ru-RU" sz="1400" dirty="0"/>
          </a:p>
          <a:p>
            <a:pPr algn="just">
              <a:buFont typeface="Wingdings" panose="05000000000000000000" pitchFamily="2" charset="2"/>
              <a:buChar char="§"/>
            </a:pPr>
            <a:endParaRPr lang="ru-RU" sz="1400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98418C6-8771-E05C-8612-D83E6BB11106}"/>
              </a:ext>
            </a:extLst>
          </p:cNvPr>
          <p:cNvGrpSpPr/>
          <p:nvPr/>
        </p:nvGrpSpPr>
        <p:grpSpPr>
          <a:xfrm>
            <a:off x="1374053" y="5074659"/>
            <a:ext cx="4271129" cy="1715292"/>
            <a:chOff x="1340766" y="3682981"/>
            <a:chExt cx="4271129" cy="1715292"/>
          </a:xfrm>
        </p:grpSpPr>
        <p:cxnSp>
          <p:nvCxnSpPr>
            <p:cNvPr id="5" name="Прямая со стрелкой 4">
              <a:extLst>
                <a:ext uri="{FF2B5EF4-FFF2-40B4-BE49-F238E27FC236}">
                  <a16:creationId xmlns:a16="http://schemas.microsoft.com/office/drawing/2014/main" id="{288B192F-8F2F-7A95-1902-5F038B1F67E4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1927418" y="4469101"/>
              <a:ext cx="740468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Блок-схема: узел 5">
              <a:extLst>
                <a:ext uri="{FF2B5EF4-FFF2-40B4-BE49-F238E27FC236}">
                  <a16:creationId xmlns:a16="http://schemas.microsoft.com/office/drawing/2014/main" id="{5E9FF44E-0765-7DFD-1EE2-A0C4785D546E}"/>
                </a:ext>
              </a:extLst>
            </p:cNvPr>
            <p:cNvSpPr/>
            <p:nvPr/>
          </p:nvSpPr>
          <p:spPr>
            <a:xfrm>
              <a:off x="2667886" y="4149924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7" name="Прямая со стрелкой 6">
              <a:extLst>
                <a:ext uri="{FF2B5EF4-FFF2-40B4-BE49-F238E27FC236}">
                  <a16:creationId xmlns:a16="http://schemas.microsoft.com/office/drawing/2014/main" id="{EDC77941-F1DA-903B-25C1-BEDBEB3751C0}"/>
                </a:ext>
              </a:extLst>
            </p:cNvPr>
            <p:cNvCxnSpPr/>
            <p:nvPr/>
          </p:nvCxnSpPr>
          <p:spPr>
            <a:xfrm flipV="1">
              <a:off x="1595301" y="3805465"/>
              <a:ext cx="2515070" cy="34445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Блок-схема: узел 7">
              <a:extLst>
                <a:ext uri="{FF2B5EF4-FFF2-40B4-BE49-F238E27FC236}">
                  <a16:creationId xmlns:a16="http://schemas.microsoft.com/office/drawing/2014/main" id="{8E950030-AC7E-6C22-7A50-111F1437DFFC}"/>
                </a:ext>
              </a:extLst>
            </p:cNvPr>
            <p:cNvSpPr/>
            <p:nvPr/>
          </p:nvSpPr>
          <p:spPr>
            <a:xfrm>
              <a:off x="4026763" y="3682981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D98AD06-7DE2-E881-57C1-3988FF720114}"/>
                </a:ext>
              </a:extLst>
            </p:cNvPr>
            <p:cNvSpPr txBox="1"/>
            <p:nvPr/>
          </p:nvSpPr>
          <p:spPr>
            <a:xfrm>
              <a:off x="1340766" y="4284434"/>
              <a:ext cx="4708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  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6CD28BF-CC85-6199-EC7D-553C0F917F59}"/>
                </a:ext>
              </a:extLst>
            </p:cNvPr>
            <p:cNvSpPr txBox="1"/>
            <p:nvPr/>
          </p:nvSpPr>
          <p:spPr>
            <a:xfrm flipH="1">
              <a:off x="2809628" y="4283295"/>
              <a:ext cx="456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 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4C6FD4-BF4F-C192-B978-6BBE8A535B66}"/>
                </a:ext>
              </a:extLst>
            </p:cNvPr>
            <p:cNvSpPr txBox="1"/>
            <p:nvPr/>
          </p:nvSpPr>
          <p:spPr>
            <a:xfrm>
              <a:off x="4190508" y="3777082"/>
              <a:ext cx="273170" cy="372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3</a:t>
              </a:r>
            </a:p>
          </p:txBody>
        </p:sp>
        <p:cxnSp>
          <p:nvCxnSpPr>
            <p:cNvPr id="12" name="Прямая со стрелкой 11">
              <a:extLst>
                <a:ext uri="{FF2B5EF4-FFF2-40B4-BE49-F238E27FC236}">
                  <a16:creationId xmlns:a16="http://schemas.microsoft.com/office/drawing/2014/main" id="{120EF905-FEC4-55B1-F876-D1CC8668EA62}"/>
                </a:ext>
              </a:extLst>
            </p:cNvPr>
            <p:cNvCxnSpPr>
              <a:stCxn id="6" idx="6"/>
            </p:cNvCxnSpPr>
            <p:nvPr/>
          </p:nvCxnSpPr>
          <p:spPr>
            <a:xfrm flipV="1">
              <a:off x="3332120" y="4198784"/>
              <a:ext cx="784601" cy="2703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 стрелкой 12">
              <a:extLst>
                <a:ext uri="{FF2B5EF4-FFF2-40B4-BE49-F238E27FC236}">
                  <a16:creationId xmlns:a16="http://schemas.microsoft.com/office/drawing/2014/main" id="{75F930C7-F300-7A59-F72D-09B5F3486D98}"/>
                </a:ext>
              </a:extLst>
            </p:cNvPr>
            <p:cNvCxnSpPr>
              <a:endCxn id="14" idx="1"/>
            </p:cNvCxnSpPr>
            <p:nvPr/>
          </p:nvCxnSpPr>
          <p:spPr>
            <a:xfrm>
              <a:off x="3327580" y="4558860"/>
              <a:ext cx="842282" cy="2945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Блок-схема: узел 13">
              <a:extLst>
                <a:ext uri="{FF2B5EF4-FFF2-40B4-BE49-F238E27FC236}">
                  <a16:creationId xmlns:a16="http://schemas.microsoft.com/office/drawing/2014/main" id="{1AA0FBDF-6101-8C8A-A74B-0B86F7D0DCDC}"/>
                </a:ext>
              </a:extLst>
            </p:cNvPr>
            <p:cNvSpPr/>
            <p:nvPr/>
          </p:nvSpPr>
          <p:spPr>
            <a:xfrm>
              <a:off x="4072587" y="4759918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617904-6C57-8E8E-D5C3-B57F7969B70C}"/>
                </a:ext>
              </a:extLst>
            </p:cNvPr>
            <p:cNvSpPr txBox="1"/>
            <p:nvPr/>
          </p:nvSpPr>
          <p:spPr>
            <a:xfrm>
              <a:off x="4262357" y="4925588"/>
              <a:ext cx="273170" cy="372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4</a:t>
              </a:r>
            </a:p>
          </p:txBody>
        </p:sp>
        <p:cxnSp>
          <p:nvCxnSpPr>
            <p:cNvPr id="16" name="Прямая со стрелкой 15">
              <a:extLst>
                <a:ext uri="{FF2B5EF4-FFF2-40B4-BE49-F238E27FC236}">
                  <a16:creationId xmlns:a16="http://schemas.microsoft.com/office/drawing/2014/main" id="{144944E0-C7EA-749D-499F-F113CE65A5BD}"/>
                </a:ext>
              </a:extLst>
            </p:cNvPr>
            <p:cNvCxnSpPr/>
            <p:nvPr/>
          </p:nvCxnSpPr>
          <p:spPr>
            <a:xfrm>
              <a:off x="1634944" y="4777406"/>
              <a:ext cx="2487082" cy="4463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F3D83ADD-F125-9D56-CA4C-9F94385939E7}"/>
                </a:ext>
              </a:extLst>
            </p:cNvPr>
            <p:cNvCxnSpPr/>
            <p:nvPr/>
          </p:nvCxnSpPr>
          <p:spPr>
            <a:xfrm flipV="1">
              <a:off x="4744743" y="4700012"/>
              <a:ext cx="291553" cy="3957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Блок-схема: узел 17">
              <a:extLst>
                <a:ext uri="{FF2B5EF4-FFF2-40B4-BE49-F238E27FC236}">
                  <a16:creationId xmlns:a16="http://schemas.microsoft.com/office/drawing/2014/main" id="{863E87EC-789A-6223-5A84-B63D10DBE59E}"/>
                </a:ext>
              </a:extLst>
            </p:cNvPr>
            <p:cNvSpPr/>
            <p:nvPr/>
          </p:nvSpPr>
          <p:spPr>
            <a:xfrm>
              <a:off x="4947661" y="4198784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CF6C6C-B7E1-4043-541D-5AB16B2C0887}"/>
                </a:ext>
              </a:extLst>
            </p:cNvPr>
            <p:cNvSpPr txBox="1"/>
            <p:nvPr/>
          </p:nvSpPr>
          <p:spPr>
            <a:xfrm>
              <a:off x="5158501" y="4308061"/>
              <a:ext cx="273170" cy="372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5</a:t>
              </a:r>
            </a:p>
          </p:txBody>
        </p:sp>
        <p:cxnSp>
          <p:nvCxnSpPr>
            <p:cNvPr id="20" name="Прямая со стрелкой 19">
              <a:extLst>
                <a:ext uri="{FF2B5EF4-FFF2-40B4-BE49-F238E27FC236}">
                  <a16:creationId xmlns:a16="http://schemas.microsoft.com/office/drawing/2014/main" id="{48BCD202-050C-3E7D-4298-4EE68A185F5A}"/>
                </a:ext>
              </a:extLst>
            </p:cNvPr>
            <p:cNvCxnSpPr>
              <a:endCxn id="18" idx="1"/>
            </p:cNvCxnSpPr>
            <p:nvPr/>
          </p:nvCxnSpPr>
          <p:spPr>
            <a:xfrm>
              <a:off x="4697327" y="3974954"/>
              <a:ext cx="347609" cy="3173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Блок-схема: узел 20">
            <a:extLst>
              <a:ext uri="{FF2B5EF4-FFF2-40B4-BE49-F238E27FC236}">
                <a16:creationId xmlns:a16="http://schemas.microsoft.com/office/drawing/2014/main" id="{47C6996D-B185-7700-9C09-5760F2C194CB}"/>
              </a:ext>
            </a:extLst>
          </p:cNvPr>
          <p:cNvSpPr/>
          <p:nvPr/>
        </p:nvSpPr>
        <p:spPr>
          <a:xfrm>
            <a:off x="1259356" y="5537926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53D11942-2B55-A522-C5F0-FE674B90EDFD}"/>
              </a:ext>
            </a:extLst>
          </p:cNvPr>
          <p:cNvSpPr/>
          <p:nvPr/>
        </p:nvSpPr>
        <p:spPr>
          <a:xfrm>
            <a:off x="3552528" y="4787278"/>
            <a:ext cx="1207619" cy="1143161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7C8711-09C5-CADA-7DC9-B6B7F1CED3A6}"/>
              </a:ext>
            </a:extLst>
          </p:cNvPr>
          <p:cNvSpPr txBox="1"/>
          <p:nvPr/>
        </p:nvSpPr>
        <p:spPr>
          <a:xfrm>
            <a:off x="6316518" y="484779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rgbClr val="FF0000"/>
                </a:solidFill>
              </a:rPr>
              <a:t>Упражнение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Сформируйте таблицу для расчета параметров 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Определите ранние сроки свершения событий, ранние сроки начала и окончания работ, приняв продолжительность работ равные дню в месяце вашего рождения, а также дате рождения еще 6 друзей.</a:t>
            </a:r>
          </a:p>
        </p:txBody>
      </p:sp>
    </p:spTree>
    <p:extLst>
      <p:ext uri="{BB962C8B-B14F-4D97-AF65-F5344CB8AC3E}">
        <p14:creationId xmlns:p14="http://schemas.microsoft.com/office/powerpoint/2010/main" val="798186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0C180-2F70-D240-7C44-8AAF18E6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C5E92B3B-2A4D-F457-1F60-BBF915B7E3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2020390"/>
              </p:ext>
            </p:extLst>
          </p:nvPr>
        </p:nvGraphicFramePr>
        <p:xfrm>
          <a:off x="916406" y="2072272"/>
          <a:ext cx="65722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668">
                  <a:extLst>
                    <a:ext uri="{9D8B030D-6E8A-4147-A177-3AD203B41FA5}">
                      <a16:colId xmlns:a16="http://schemas.microsoft.com/office/drawing/2014/main" val="222147444"/>
                    </a:ext>
                  </a:extLst>
                </a:gridCol>
                <a:gridCol w="1473869">
                  <a:extLst>
                    <a:ext uri="{9D8B030D-6E8A-4147-A177-3AD203B41FA5}">
                      <a16:colId xmlns:a16="http://schemas.microsoft.com/office/drawing/2014/main" val="2033634412"/>
                    </a:ext>
                  </a:extLst>
                </a:gridCol>
                <a:gridCol w="1833813">
                  <a:extLst>
                    <a:ext uri="{9D8B030D-6E8A-4147-A177-3AD203B41FA5}">
                      <a16:colId xmlns:a16="http://schemas.microsoft.com/office/drawing/2014/main" val="227860868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2634965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69052935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 п/п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 работы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Продолжитель-</a:t>
                      </a:r>
                      <a:r>
                        <a:rPr lang="ru-RU" dirty="0" err="1"/>
                        <a:t>ность</a:t>
                      </a:r>
                      <a:r>
                        <a:rPr lang="ru-RU" dirty="0"/>
                        <a:t> работ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Ранние сроки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2070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начало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окончание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098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958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970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67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38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738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514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29956"/>
                  </a:ext>
                </a:extLst>
              </a:tr>
            </a:tbl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AC0BBBD-CCEA-545A-2B56-D65CA93A3EA5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Пример расчета временных характеристик сетевого графика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1442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DF19E-F275-4114-B22A-A39CB3E9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>
                <a:solidFill>
                  <a:srgbClr val="002060"/>
                </a:solidFill>
                <a:latin typeface="Raleway Black"/>
              </a:rPr>
              <a:t>Расчет параметров сетевой модели: поздние сроки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4CD26D-182F-435D-B0F3-733EC43D6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4793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ru-RU" dirty="0"/>
              <a:t>Порядок расчета поздних сроков событий сетевого графика и поздних сроков начала и окончания работ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Расчет поздних сроков начинается с момента раннего свершения последнего события сетевого графа.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Поздний срок завершения всей совокупности работ равен раннему сроку свершения последнего события. Поэтому поздний срок окончания всех работ, завершающихся последним событием равен раннему сроку его свершения.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Поздний срок начала работ равен позднему сроку завершения работ минус продолжительность.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Если событие завершает несколько работ , то поздний срок его начала равен позднему сроку окончания всех работ, завершающихся этим событием.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Если после события выполняется несколько работ, то наиболее поздним сроком свершения события должно быть минимальное значение поздних сроков начала последующих работ. Если принять большее значение, то вся совокупность работ сдвинется.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B46C7-1D37-445D-B713-57C858121F7A}"/>
              </a:ext>
            </a:extLst>
          </p:cNvPr>
          <p:cNvSpPr txBox="1"/>
          <p:nvPr/>
        </p:nvSpPr>
        <p:spPr>
          <a:xfrm>
            <a:off x="440267" y="5850235"/>
            <a:ext cx="1117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rgbClr val="FF0000"/>
                </a:solidFill>
              </a:rPr>
              <a:t>Упражнение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Определите поздние сроки свершения событий, поздние сроки начала и окончания работ в сформированной таблице.</a:t>
            </a:r>
          </a:p>
        </p:txBody>
      </p:sp>
    </p:spTree>
    <p:extLst>
      <p:ext uri="{BB962C8B-B14F-4D97-AF65-F5344CB8AC3E}">
        <p14:creationId xmlns:p14="http://schemas.microsoft.com/office/powerpoint/2010/main" val="931040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0C180-2F70-D240-7C44-8AAF18E6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C5E92B3B-2A4D-F457-1F60-BBF915B7E3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2764960"/>
              </p:ext>
            </p:extLst>
          </p:nvPr>
        </p:nvGraphicFramePr>
        <p:xfrm>
          <a:off x="916406" y="2072272"/>
          <a:ext cx="92011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668">
                  <a:extLst>
                    <a:ext uri="{9D8B030D-6E8A-4147-A177-3AD203B41FA5}">
                      <a16:colId xmlns:a16="http://schemas.microsoft.com/office/drawing/2014/main" val="222147444"/>
                    </a:ext>
                  </a:extLst>
                </a:gridCol>
                <a:gridCol w="1473869">
                  <a:extLst>
                    <a:ext uri="{9D8B030D-6E8A-4147-A177-3AD203B41FA5}">
                      <a16:colId xmlns:a16="http://schemas.microsoft.com/office/drawing/2014/main" val="2033634412"/>
                    </a:ext>
                  </a:extLst>
                </a:gridCol>
                <a:gridCol w="1833813">
                  <a:extLst>
                    <a:ext uri="{9D8B030D-6E8A-4147-A177-3AD203B41FA5}">
                      <a16:colId xmlns:a16="http://schemas.microsoft.com/office/drawing/2014/main" val="227860868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2634965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6905293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1393663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569049008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 п/п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 работы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Продолжитель-</a:t>
                      </a:r>
                      <a:r>
                        <a:rPr lang="ru-RU" dirty="0" err="1"/>
                        <a:t>ность</a:t>
                      </a:r>
                      <a:r>
                        <a:rPr lang="ru-RU" dirty="0"/>
                        <a:t> работ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Ранние сроки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Поздние сроки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2070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начало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окончание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начало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окончание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098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958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970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67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38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738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514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29956"/>
                  </a:ext>
                </a:extLst>
              </a:tr>
            </a:tbl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AC0BBBD-CCEA-545A-2B56-D65CA93A3EA5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Пример расчета временных характеристик сетевого графика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7756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B09A753-8D1C-415C-8A5D-3CA1993D36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ru-RU" dirty="0"/>
                  <a:t>Резерв времени событий и работ, необходимых для их свершения</a:t>
                </a:r>
                <a14:m>
                  <m:oMath xmlns:m="http://schemas.openxmlformats.org/officeDocument/2006/math"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определяется разницей ранних и поздних сроков наступления каждого события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</m:oMath>
                </a14:m>
                <a:r>
                  <a:rPr lang="en-US" dirty="0"/>
                  <a:t>-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sup>
                    </m:sSubSup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algn="just"/>
                <a:r>
                  <a:rPr lang="ru-RU" dirty="0"/>
                  <a:t>Резервы времени всех критических событий равны 0.</a:t>
                </a:r>
              </a:p>
              <a:p>
                <a:pPr algn="just"/>
                <a:r>
                  <a:rPr lang="ru-RU" dirty="0"/>
                  <a:t>Полный резерв времени работы показывает время, на которое можно перенести начало данной работы (или увеличить её продолжительность), не изменяя при этом длины критического пути и определяется по формулам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  <m:sup>
                        <m:r>
                          <a:rPr lang="ru-RU" dirty="0">
                            <a:latin typeface="Cambria Math" panose="02040503050406030204" pitchFamily="18" charset="0"/>
                          </a:rPr>
                          <m:t>п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.н</m:t>
                        </m:r>
                      </m:sup>
                    </m:sSubSup>
                    <m:r>
                      <a:rPr lang="en-US" dirty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  <m:sup>
                        <m:r>
                          <a:rPr lang="ru-RU" dirty="0">
                            <a:latin typeface="Cambria Math" panose="02040503050406030204" pitchFamily="18" charset="0"/>
                          </a:rPr>
                          <m:t>р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.н</m:t>
                        </m:r>
                      </m:sup>
                    </m:sSubSup>
                  </m:oMath>
                </a14:m>
                <a:r>
                  <a:rPr lang="ru-RU" dirty="0"/>
                  <a:t>.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B09A753-8D1C-415C-8A5D-3CA1993D36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60B2D94-A9C7-4E68-AB88-4BBE98E25863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Расчет параметров сетевой модели: резервы времени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2E81E-21AF-4191-97B2-B84509DFA982}"/>
              </a:ext>
            </a:extLst>
          </p:cNvPr>
          <p:cNvSpPr txBox="1"/>
          <p:nvPr/>
        </p:nvSpPr>
        <p:spPr>
          <a:xfrm>
            <a:off x="440267" y="5850235"/>
            <a:ext cx="1117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rgbClr val="FF0000"/>
                </a:solidFill>
              </a:rPr>
              <a:t>Упражнение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Определите резервы времени событий и </a:t>
            </a:r>
            <a:r>
              <a:rPr lang="ru-RU" dirty="0" err="1">
                <a:solidFill>
                  <a:srgbClr val="FF0000"/>
                </a:solidFill>
              </a:rPr>
              <a:t>работв</a:t>
            </a:r>
            <a:r>
              <a:rPr lang="ru-RU" dirty="0">
                <a:solidFill>
                  <a:srgbClr val="FF0000"/>
                </a:solidFill>
              </a:rPr>
              <a:t> сформированной таблице.</a:t>
            </a:r>
          </a:p>
        </p:txBody>
      </p:sp>
    </p:spTree>
    <p:extLst>
      <p:ext uri="{BB962C8B-B14F-4D97-AF65-F5344CB8AC3E}">
        <p14:creationId xmlns:p14="http://schemas.microsoft.com/office/powerpoint/2010/main" val="3275864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0C180-2F70-D240-7C44-8AAF18E6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AC0BBBD-CCEA-545A-2B56-D65CA93A3EA5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Пример расчета временных характеристик сетевого графика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62E2FD-FFDB-B544-F9C2-F3772BE72F77}"/>
              </a:ext>
            </a:extLst>
          </p:cNvPr>
          <p:cNvSpPr txBox="1"/>
          <p:nvPr/>
        </p:nvSpPr>
        <p:spPr>
          <a:xfrm>
            <a:off x="440267" y="5850235"/>
            <a:ext cx="1117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rgbClr val="FF0000"/>
                </a:solidFill>
              </a:rPr>
              <a:t>Упражнение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Пользуясь материалами выше, составьте сетевой график из последовательных событий и таблицу расчета временных характеристик к нему.</a:t>
            </a:r>
          </a:p>
        </p:txBody>
      </p:sp>
      <p:graphicFrame>
        <p:nvGraphicFramePr>
          <p:cNvPr id="7" name="Объект 1">
            <a:extLst>
              <a:ext uri="{FF2B5EF4-FFF2-40B4-BE49-F238E27FC236}">
                <a16:creationId xmlns:a16="http://schemas.microsoft.com/office/drawing/2014/main" id="{85762C65-EFB9-4F19-A601-3822B8330C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6332958"/>
              </p:ext>
            </p:extLst>
          </p:nvPr>
        </p:nvGraphicFramePr>
        <p:xfrm>
          <a:off x="916405" y="2072272"/>
          <a:ext cx="999712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4326">
                  <a:extLst>
                    <a:ext uri="{9D8B030D-6E8A-4147-A177-3AD203B41FA5}">
                      <a16:colId xmlns:a16="http://schemas.microsoft.com/office/drawing/2014/main" val="222147444"/>
                    </a:ext>
                  </a:extLst>
                </a:gridCol>
                <a:gridCol w="1401200">
                  <a:extLst>
                    <a:ext uri="{9D8B030D-6E8A-4147-A177-3AD203B41FA5}">
                      <a16:colId xmlns:a16="http://schemas.microsoft.com/office/drawing/2014/main" val="2033634412"/>
                    </a:ext>
                  </a:extLst>
                </a:gridCol>
                <a:gridCol w="1743397">
                  <a:extLst>
                    <a:ext uri="{9D8B030D-6E8A-4147-A177-3AD203B41FA5}">
                      <a16:colId xmlns:a16="http://schemas.microsoft.com/office/drawing/2014/main" val="2278608689"/>
                    </a:ext>
                  </a:extLst>
                </a:gridCol>
                <a:gridCol w="1249641">
                  <a:extLst>
                    <a:ext uri="{9D8B030D-6E8A-4147-A177-3AD203B41FA5}">
                      <a16:colId xmlns:a16="http://schemas.microsoft.com/office/drawing/2014/main" val="3326349654"/>
                    </a:ext>
                  </a:extLst>
                </a:gridCol>
                <a:gridCol w="1349431">
                  <a:extLst>
                    <a:ext uri="{9D8B030D-6E8A-4147-A177-3AD203B41FA5}">
                      <a16:colId xmlns:a16="http://schemas.microsoft.com/office/drawing/2014/main" val="2969052935"/>
                    </a:ext>
                  </a:extLst>
                </a:gridCol>
                <a:gridCol w="1149851">
                  <a:extLst>
                    <a:ext uri="{9D8B030D-6E8A-4147-A177-3AD203B41FA5}">
                      <a16:colId xmlns:a16="http://schemas.microsoft.com/office/drawing/2014/main" val="3613936631"/>
                    </a:ext>
                  </a:extLst>
                </a:gridCol>
                <a:gridCol w="1381682">
                  <a:extLst>
                    <a:ext uri="{9D8B030D-6E8A-4147-A177-3AD203B41FA5}">
                      <a16:colId xmlns:a16="http://schemas.microsoft.com/office/drawing/2014/main" val="2569049008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415761520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 п/п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 работы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Продолжитель-</a:t>
                      </a:r>
                      <a:r>
                        <a:rPr lang="ru-RU" dirty="0" err="1"/>
                        <a:t>ность</a:t>
                      </a:r>
                      <a:r>
                        <a:rPr lang="ru-RU" dirty="0"/>
                        <a:t> работ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Ранние сроки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Поздние сроки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Резерв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2070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начало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окончание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начало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окончание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098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958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970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67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38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738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514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29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369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F93B6-2DB1-F93D-4968-F6B8E29F7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Овал 85">
            <a:extLst>
              <a:ext uri="{FF2B5EF4-FFF2-40B4-BE49-F238E27FC236}">
                <a16:creationId xmlns:a16="http://schemas.microsoft.com/office/drawing/2014/main" id="{621C111C-8EB0-455F-B411-4A32AFC69205}"/>
              </a:ext>
            </a:extLst>
          </p:cNvPr>
          <p:cNvSpPr/>
          <p:nvPr/>
        </p:nvSpPr>
        <p:spPr>
          <a:xfrm>
            <a:off x="3053434" y="4828468"/>
            <a:ext cx="373913" cy="39125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Овал 83">
            <a:extLst>
              <a:ext uri="{FF2B5EF4-FFF2-40B4-BE49-F238E27FC236}">
                <a16:creationId xmlns:a16="http://schemas.microsoft.com/office/drawing/2014/main" id="{01B09FE0-784B-42C4-96A0-70FBE57EDC6F}"/>
              </a:ext>
            </a:extLst>
          </p:cNvPr>
          <p:cNvSpPr/>
          <p:nvPr/>
        </p:nvSpPr>
        <p:spPr>
          <a:xfrm>
            <a:off x="2698281" y="4525074"/>
            <a:ext cx="373913" cy="391259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6D1103F5-D62E-4F26-96DC-B6A7B9FD7174}"/>
              </a:ext>
            </a:extLst>
          </p:cNvPr>
          <p:cNvSpPr/>
          <p:nvPr/>
        </p:nvSpPr>
        <p:spPr>
          <a:xfrm>
            <a:off x="3474904" y="4525075"/>
            <a:ext cx="373913" cy="39125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F8F5B4C-C58D-76CE-B606-14906F8571AE}"/>
              </a:ext>
            </a:extLst>
          </p:cNvPr>
          <p:cNvSpPr txBox="1">
            <a:spLocks/>
          </p:cNvSpPr>
          <p:nvPr/>
        </p:nvSpPr>
        <p:spPr>
          <a:xfrm>
            <a:off x="892381" y="693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Графический метод отображения </a:t>
            </a:r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131644C8-96C4-4E14-A8DD-CC711B9183C2}"/>
              </a:ext>
            </a:extLst>
          </p:cNvPr>
          <p:cNvSpPr/>
          <p:nvPr/>
        </p:nvSpPr>
        <p:spPr>
          <a:xfrm>
            <a:off x="3075256" y="4254419"/>
            <a:ext cx="373913" cy="3912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51089D-1391-AF1A-F86E-7D3DF9537FDB}"/>
              </a:ext>
            </a:extLst>
          </p:cNvPr>
          <p:cNvSpPr txBox="1"/>
          <p:nvPr/>
        </p:nvSpPr>
        <p:spPr>
          <a:xfrm>
            <a:off x="464330" y="5855922"/>
            <a:ext cx="1117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rgbClr val="FF0000"/>
                </a:solidFill>
              </a:rPr>
              <a:t>Упражнение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Изобразите графическим методом сетевой график с записями расчетных параметров</a:t>
            </a:r>
          </a:p>
        </p:txBody>
      </p: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E17F3EE2-47D9-3094-A4A1-42E509CE2131}"/>
              </a:ext>
            </a:extLst>
          </p:cNvPr>
          <p:cNvGrpSpPr/>
          <p:nvPr/>
        </p:nvGrpSpPr>
        <p:grpSpPr>
          <a:xfrm>
            <a:off x="2672846" y="3579395"/>
            <a:ext cx="7842753" cy="2472465"/>
            <a:chOff x="1872747" y="2534878"/>
            <a:chExt cx="6237538" cy="2494297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59DF2876-0E75-C988-35EA-857661179DAD}"/>
                </a:ext>
              </a:extLst>
            </p:cNvPr>
            <p:cNvGrpSpPr/>
            <p:nvPr/>
          </p:nvGrpSpPr>
          <p:grpSpPr>
            <a:xfrm>
              <a:off x="1872747" y="2534878"/>
              <a:ext cx="6237538" cy="2494297"/>
              <a:chOff x="1263184" y="3682981"/>
              <a:chExt cx="4348711" cy="1715292"/>
            </a:xfrm>
          </p:grpSpPr>
          <p:sp>
            <p:nvSpPr>
              <p:cNvPr id="8" name="Блок-схема: узел 7">
                <a:extLst>
                  <a:ext uri="{FF2B5EF4-FFF2-40B4-BE49-F238E27FC236}">
                    <a16:creationId xmlns:a16="http://schemas.microsoft.com/office/drawing/2014/main" id="{95C73804-8EEA-53C8-E349-12D91C954F16}"/>
                  </a:ext>
                </a:extLst>
              </p:cNvPr>
              <p:cNvSpPr/>
              <p:nvPr/>
            </p:nvSpPr>
            <p:spPr>
              <a:xfrm>
                <a:off x="1263184" y="4149923"/>
                <a:ext cx="664234" cy="638355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cxnSp>
            <p:nvCxnSpPr>
              <p:cNvPr id="9" name="Прямая со стрелкой 8">
                <a:extLst>
                  <a:ext uri="{FF2B5EF4-FFF2-40B4-BE49-F238E27FC236}">
                    <a16:creationId xmlns:a16="http://schemas.microsoft.com/office/drawing/2014/main" id="{389ABE2D-D29C-6D04-E613-6D2B26B3F6E7}"/>
                  </a:ext>
                </a:extLst>
              </p:cNvPr>
              <p:cNvCxnSpPr>
                <a:stCxn id="8" idx="6"/>
                <a:endCxn id="10" idx="2"/>
              </p:cNvCxnSpPr>
              <p:nvPr/>
            </p:nvCxnSpPr>
            <p:spPr>
              <a:xfrm>
                <a:off x="1927418" y="4469101"/>
                <a:ext cx="740468" cy="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Блок-схема: узел 9">
                <a:extLst>
                  <a:ext uri="{FF2B5EF4-FFF2-40B4-BE49-F238E27FC236}">
                    <a16:creationId xmlns:a16="http://schemas.microsoft.com/office/drawing/2014/main" id="{4B9AF259-7EF2-57E8-B553-D8DE136BE823}"/>
                  </a:ext>
                </a:extLst>
              </p:cNvPr>
              <p:cNvSpPr/>
              <p:nvPr/>
            </p:nvSpPr>
            <p:spPr>
              <a:xfrm>
                <a:off x="2667886" y="4149924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Блок-схема: узел 10">
                <a:extLst>
                  <a:ext uri="{FF2B5EF4-FFF2-40B4-BE49-F238E27FC236}">
                    <a16:creationId xmlns:a16="http://schemas.microsoft.com/office/drawing/2014/main" id="{B52BCC1B-F888-F595-6A7B-F07B2E8F7B29}"/>
                  </a:ext>
                </a:extLst>
              </p:cNvPr>
              <p:cNvSpPr/>
              <p:nvPr/>
            </p:nvSpPr>
            <p:spPr>
              <a:xfrm>
                <a:off x="4026763" y="3682981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B13A90-3D4C-80B8-3DAC-E4E302251C3E}"/>
                  </a:ext>
                </a:extLst>
              </p:cNvPr>
              <p:cNvSpPr txBox="1"/>
              <p:nvPr/>
            </p:nvSpPr>
            <p:spPr>
              <a:xfrm>
                <a:off x="1340766" y="4284434"/>
                <a:ext cx="470814" cy="253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 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BCBD99-82BE-76A3-0E46-D4964E99D976}"/>
                  </a:ext>
                </a:extLst>
              </p:cNvPr>
              <p:cNvSpPr txBox="1"/>
              <p:nvPr/>
            </p:nvSpPr>
            <p:spPr>
              <a:xfrm flipH="1">
                <a:off x="2859285" y="4151517"/>
                <a:ext cx="216172" cy="253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</a:t>
                </a:r>
              </a:p>
            </p:txBody>
          </p:sp>
          <p:cxnSp>
            <p:nvCxnSpPr>
              <p:cNvPr id="15" name="Прямая со стрелкой 14">
                <a:extLst>
                  <a:ext uri="{FF2B5EF4-FFF2-40B4-BE49-F238E27FC236}">
                    <a16:creationId xmlns:a16="http://schemas.microsoft.com/office/drawing/2014/main" id="{BD9A21EF-7521-AEF3-E1CE-C5172EBA11DE}"/>
                  </a:ext>
                </a:extLst>
              </p:cNvPr>
              <p:cNvCxnSpPr>
                <a:stCxn id="10" idx="6"/>
              </p:cNvCxnSpPr>
              <p:nvPr/>
            </p:nvCxnSpPr>
            <p:spPr>
              <a:xfrm flipV="1">
                <a:off x="3332120" y="4198784"/>
                <a:ext cx="784601" cy="2703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 стрелкой 15">
                <a:extLst>
                  <a:ext uri="{FF2B5EF4-FFF2-40B4-BE49-F238E27FC236}">
                    <a16:creationId xmlns:a16="http://schemas.microsoft.com/office/drawing/2014/main" id="{FFFEF97B-5437-C12E-1961-B1642B941567}"/>
                  </a:ext>
                </a:extLst>
              </p:cNvPr>
              <p:cNvCxnSpPr>
                <a:endCxn id="17" idx="1"/>
              </p:cNvCxnSpPr>
              <p:nvPr/>
            </p:nvCxnSpPr>
            <p:spPr>
              <a:xfrm>
                <a:off x="3327580" y="4558860"/>
                <a:ext cx="842282" cy="29454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Блок-схема: узел 16">
                <a:extLst>
                  <a:ext uri="{FF2B5EF4-FFF2-40B4-BE49-F238E27FC236}">
                    <a16:creationId xmlns:a16="http://schemas.microsoft.com/office/drawing/2014/main" id="{7A4E0745-9B73-B1A4-4B97-902A0ECE1586}"/>
                  </a:ext>
                </a:extLst>
              </p:cNvPr>
              <p:cNvSpPr/>
              <p:nvPr/>
            </p:nvSpPr>
            <p:spPr>
              <a:xfrm>
                <a:off x="4072587" y="4759918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AAE6CBE-0527-9846-C217-8B356B9FBC33}"/>
                  </a:ext>
                </a:extLst>
              </p:cNvPr>
              <p:cNvSpPr txBox="1"/>
              <p:nvPr/>
            </p:nvSpPr>
            <p:spPr>
              <a:xfrm>
                <a:off x="4262357" y="4925588"/>
                <a:ext cx="273170" cy="253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ru-RU" dirty="0"/>
              </a:p>
            </p:txBody>
          </p:sp>
          <p:cxnSp>
            <p:nvCxnSpPr>
              <p:cNvPr id="19" name="Прямая со стрелкой 18">
                <a:extLst>
                  <a:ext uri="{FF2B5EF4-FFF2-40B4-BE49-F238E27FC236}">
                    <a16:creationId xmlns:a16="http://schemas.microsoft.com/office/drawing/2014/main" id="{C5C0C480-3BBE-3452-E728-6F1B9E029E88}"/>
                  </a:ext>
                </a:extLst>
              </p:cNvPr>
              <p:cNvCxnSpPr/>
              <p:nvPr/>
            </p:nvCxnSpPr>
            <p:spPr>
              <a:xfrm>
                <a:off x="1634944" y="4777406"/>
                <a:ext cx="2487082" cy="44638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 стрелкой 19">
                <a:extLst>
                  <a:ext uri="{FF2B5EF4-FFF2-40B4-BE49-F238E27FC236}">
                    <a16:creationId xmlns:a16="http://schemas.microsoft.com/office/drawing/2014/main" id="{2971DB70-6933-6E26-9A26-07DAC892BEA4}"/>
                  </a:ext>
                </a:extLst>
              </p:cNvPr>
              <p:cNvCxnSpPr>
                <a:cxnSpLocks/>
                <a:endCxn id="21" idx="3"/>
              </p:cNvCxnSpPr>
              <p:nvPr/>
            </p:nvCxnSpPr>
            <p:spPr>
              <a:xfrm flipV="1">
                <a:off x="4744743" y="4743654"/>
                <a:ext cx="300192" cy="35210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Блок-схема: узел 20">
                <a:extLst>
                  <a:ext uri="{FF2B5EF4-FFF2-40B4-BE49-F238E27FC236}">
                    <a16:creationId xmlns:a16="http://schemas.microsoft.com/office/drawing/2014/main" id="{27C7D2BB-CD46-BB7B-C041-E64753275FDA}"/>
                  </a:ext>
                </a:extLst>
              </p:cNvPr>
              <p:cNvSpPr/>
              <p:nvPr/>
            </p:nvSpPr>
            <p:spPr>
              <a:xfrm>
                <a:off x="4947661" y="4198784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7EAD42C-84B6-B40B-1588-95FED22CE296}"/>
                  </a:ext>
                </a:extLst>
              </p:cNvPr>
              <p:cNvSpPr txBox="1"/>
              <p:nvPr/>
            </p:nvSpPr>
            <p:spPr>
              <a:xfrm>
                <a:off x="5158501" y="4308061"/>
                <a:ext cx="273170" cy="253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ru-RU" dirty="0"/>
              </a:p>
            </p:txBody>
          </p:sp>
          <p:cxnSp>
            <p:nvCxnSpPr>
              <p:cNvPr id="23" name="Прямая со стрелкой 22">
                <a:extLst>
                  <a:ext uri="{FF2B5EF4-FFF2-40B4-BE49-F238E27FC236}">
                    <a16:creationId xmlns:a16="http://schemas.microsoft.com/office/drawing/2014/main" id="{F5EEF8F2-35DD-F055-8BD3-5DDA7695BAB5}"/>
                  </a:ext>
                </a:extLst>
              </p:cNvPr>
              <p:cNvCxnSpPr>
                <a:endCxn id="21" idx="1"/>
              </p:cNvCxnSpPr>
              <p:nvPr/>
            </p:nvCxnSpPr>
            <p:spPr>
              <a:xfrm>
                <a:off x="4697327" y="3974954"/>
                <a:ext cx="347609" cy="3173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Прямая со стрелкой 23">
              <a:extLst>
                <a:ext uri="{FF2B5EF4-FFF2-40B4-BE49-F238E27FC236}">
                  <a16:creationId xmlns:a16="http://schemas.microsoft.com/office/drawing/2014/main" id="{3ED08031-5CA8-82F8-628A-3B5D4472906A}"/>
                </a:ext>
              </a:extLst>
            </p:cNvPr>
            <p:cNvCxnSpPr>
              <a:cxnSpLocks/>
              <a:stCxn id="8" idx="0"/>
              <a:endCxn id="11" idx="0"/>
            </p:cNvCxnSpPr>
            <p:nvPr/>
          </p:nvCxnSpPr>
          <p:spPr>
            <a:xfrm flipV="1">
              <a:off x="2349117" y="2534878"/>
              <a:ext cx="3963917" cy="67900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578FBAF3-0EFA-4CCD-050C-40D0B87C8715}"/>
                </a:ext>
              </a:extLst>
            </p:cNvPr>
            <p:cNvCxnSpPr>
              <a:stCxn id="11" idx="1"/>
              <a:endCxn id="11" idx="5"/>
            </p:cNvCxnSpPr>
            <p:nvPr/>
          </p:nvCxnSpPr>
          <p:spPr>
            <a:xfrm>
              <a:off x="5976189" y="2670819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06F06737-6A2E-3F52-BB04-302ED3147071}"/>
                </a:ext>
              </a:extLst>
            </p:cNvPr>
            <p:cNvCxnSpPr>
              <a:stCxn id="11" idx="7"/>
              <a:endCxn id="11" idx="3"/>
            </p:cNvCxnSpPr>
            <p:nvPr/>
          </p:nvCxnSpPr>
          <p:spPr>
            <a:xfrm flipH="1">
              <a:off x="5976189" y="2670819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0A35BC6-CD5E-F2AB-9079-648FC84DF4E4}"/>
                </a:ext>
              </a:extLst>
            </p:cNvPr>
            <p:cNvSpPr txBox="1"/>
            <p:nvPr/>
          </p:nvSpPr>
          <p:spPr>
            <a:xfrm>
              <a:off x="6160354" y="25517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BC88334-C8CD-57DF-9D4A-22977B4D691F}"/>
                </a:ext>
              </a:extLst>
            </p:cNvPr>
            <p:cNvSpPr txBox="1"/>
            <p:nvPr/>
          </p:nvSpPr>
          <p:spPr>
            <a:xfrm>
              <a:off x="6469398" y="2777918"/>
              <a:ext cx="239938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7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2D3947D-ED87-42F1-925E-24A7D39940B8}"/>
                </a:ext>
              </a:extLst>
            </p:cNvPr>
            <p:cNvSpPr txBox="1"/>
            <p:nvPr/>
          </p:nvSpPr>
          <p:spPr>
            <a:xfrm>
              <a:off x="5877424" y="275462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8</a:t>
              </a:r>
            </a:p>
          </p:txBody>
        </p: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7E93FFE6-2BFD-509A-F4C3-12D92CAC93BB}"/>
                </a:ext>
              </a:extLst>
            </p:cNvPr>
            <p:cNvCxnSpPr/>
            <p:nvPr/>
          </p:nvCxnSpPr>
          <p:spPr>
            <a:xfrm>
              <a:off x="7295507" y="3427287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A4CEB6DC-54E9-5501-AB0C-FCC9517962FD}"/>
                </a:ext>
              </a:extLst>
            </p:cNvPr>
            <p:cNvCxnSpPr/>
            <p:nvPr/>
          </p:nvCxnSpPr>
          <p:spPr>
            <a:xfrm flipH="1">
              <a:off x="7295507" y="3427287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01A815E-7E53-A2E7-6A55-3172A2654E88}"/>
                </a:ext>
              </a:extLst>
            </p:cNvPr>
            <p:cNvSpPr txBox="1"/>
            <p:nvPr/>
          </p:nvSpPr>
          <p:spPr>
            <a:xfrm>
              <a:off x="7481508" y="332247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5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9441CBB-3984-B5A4-2F3C-46FB8725CDEC}"/>
                </a:ext>
              </a:extLst>
            </p:cNvPr>
            <p:cNvSpPr txBox="1"/>
            <p:nvPr/>
          </p:nvSpPr>
          <p:spPr>
            <a:xfrm>
              <a:off x="7757492" y="3541964"/>
              <a:ext cx="333006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11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ADDD538-96D8-E6F2-76CA-5F9780547BA7}"/>
                </a:ext>
              </a:extLst>
            </p:cNvPr>
            <p:cNvSpPr txBox="1"/>
            <p:nvPr/>
          </p:nvSpPr>
          <p:spPr>
            <a:xfrm>
              <a:off x="7198578" y="352535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11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90BD2D7-015F-222F-CAF2-FF76FD31AA64}"/>
                </a:ext>
              </a:extLst>
            </p:cNvPr>
            <p:cNvSpPr txBox="1"/>
            <p:nvPr/>
          </p:nvSpPr>
          <p:spPr>
            <a:xfrm>
              <a:off x="7493170" y="3800527"/>
              <a:ext cx="239938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6CEF4AD-1CC6-DB8F-4A6A-7B83C3C66E1F}"/>
                </a:ext>
              </a:extLst>
            </p:cNvPr>
            <p:cNvSpPr txBox="1"/>
            <p:nvPr/>
          </p:nvSpPr>
          <p:spPr>
            <a:xfrm>
              <a:off x="6158633" y="3082864"/>
              <a:ext cx="239938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id="{A40133B2-CB68-B1CA-0D90-5159DB3716F6}"/>
                </a:ext>
              </a:extLst>
            </p:cNvPr>
            <p:cNvCxnSpPr/>
            <p:nvPr/>
          </p:nvCxnSpPr>
          <p:spPr>
            <a:xfrm>
              <a:off x="6047073" y="4246090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Прямая соединительная линия 52">
              <a:extLst>
                <a:ext uri="{FF2B5EF4-FFF2-40B4-BE49-F238E27FC236}">
                  <a16:creationId xmlns:a16="http://schemas.microsoft.com/office/drawing/2014/main" id="{9F31AFFB-69A4-3008-510A-E62C2EE62486}"/>
                </a:ext>
              </a:extLst>
            </p:cNvPr>
            <p:cNvCxnSpPr/>
            <p:nvPr/>
          </p:nvCxnSpPr>
          <p:spPr>
            <a:xfrm flipH="1">
              <a:off x="6047073" y="4246090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A800EC5-9FC9-1CA9-4EB1-DB6D3B086872}"/>
                </a:ext>
              </a:extLst>
            </p:cNvPr>
            <p:cNvSpPr txBox="1"/>
            <p:nvPr/>
          </p:nvSpPr>
          <p:spPr>
            <a:xfrm>
              <a:off x="6233074" y="41412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4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1B29895-0FD6-01CF-E3E1-772BA5A63AC7}"/>
                </a:ext>
              </a:extLst>
            </p:cNvPr>
            <p:cNvSpPr txBox="1"/>
            <p:nvPr/>
          </p:nvSpPr>
          <p:spPr>
            <a:xfrm>
              <a:off x="6509058" y="4360767"/>
              <a:ext cx="239938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5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24E8443-56DA-8E7E-2357-564DFE4BA918}"/>
                </a:ext>
              </a:extLst>
            </p:cNvPr>
            <p:cNvSpPr txBox="1"/>
            <p:nvPr/>
          </p:nvSpPr>
          <p:spPr>
            <a:xfrm>
              <a:off x="5950144" y="4344157"/>
              <a:ext cx="239938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9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AD7C509-F36B-3E46-862B-7265D17EB00A}"/>
                </a:ext>
              </a:extLst>
            </p:cNvPr>
            <p:cNvSpPr txBox="1"/>
            <p:nvPr/>
          </p:nvSpPr>
          <p:spPr>
            <a:xfrm>
              <a:off x="6244736" y="4619330"/>
              <a:ext cx="239938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4</a:t>
              </a:r>
            </a:p>
          </p:txBody>
        </p:sp>
        <p:cxnSp>
          <p:nvCxnSpPr>
            <p:cNvPr id="64" name="Прямая соединительная линия 63">
              <a:extLst>
                <a:ext uri="{FF2B5EF4-FFF2-40B4-BE49-F238E27FC236}">
                  <a16:creationId xmlns:a16="http://schemas.microsoft.com/office/drawing/2014/main" id="{C5ECFD97-5E08-98A3-FFCC-1CF44BA44C94}"/>
                </a:ext>
              </a:extLst>
            </p:cNvPr>
            <p:cNvCxnSpPr/>
            <p:nvPr/>
          </p:nvCxnSpPr>
          <p:spPr>
            <a:xfrm>
              <a:off x="4025531" y="3357001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>
              <a:extLst>
                <a:ext uri="{FF2B5EF4-FFF2-40B4-BE49-F238E27FC236}">
                  <a16:creationId xmlns:a16="http://schemas.microsoft.com/office/drawing/2014/main" id="{1EEDAC01-B1FF-4DD3-7F11-B2D12FEC9468}"/>
                </a:ext>
              </a:extLst>
            </p:cNvPr>
            <p:cNvCxnSpPr/>
            <p:nvPr/>
          </p:nvCxnSpPr>
          <p:spPr>
            <a:xfrm flipH="1">
              <a:off x="4025531" y="3357001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5A9A09C-5636-FC1A-D137-4F04C9CFC808}"/>
                </a:ext>
              </a:extLst>
            </p:cNvPr>
            <p:cNvSpPr txBox="1"/>
            <p:nvPr/>
          </p:nvSpPr>
          <p:spPr>
            <a:xfrm>
              <a:off x="4211532" y="325219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2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5316C4D-C8CF-043F-F23E-EA2477D87410}"/>
                </a:ext>
              </a:extLst>
            </p:cNvPr>
            <p:cNvSpPr txBox="1"/>
            <p:nvPr/>
          </p:nvSpPr>
          <p:spPr>
            <a:xfrm>
              <a:off x="4487516" y="347167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4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1C3F8A2-D278-157A-661D-9B0C2364FBC8}"/>
                </a:ext>
              </a:extLst>
            </p:cNvPr>
            <p:cNvSpPr txBox="1"/>
            <p:nvPr/>
          </p:nvSpPr>
          <p:spPr>
            <a:xfrm>
              <a:off x="3928602" y="3455068"/>
              <a:ext cx="239938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6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7E247E7-B635-98F2-5D3C-56AA6E19B3D7}"/>
                </a:ext>
              </a:extLst>
            </p:cNvPr>
            <p:cNvSpPr txBox="1"/>
            <p:nvPr/>
          </p:nvSpPr>
          <p:spPr>
            <a:xfrm>
              <a:off x="4223194" y="3730241"/>
              <a:ext cx="239938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2</a:t>
              </a:r>
            </a:p>
          </p:txBody>
        </p:sp>
        <p:cxnSp>
          <p:nvCxnSpPr>
            <p:cNvPr id="70" name="Прямая соединительная линия 69">
              <a:extLst>
                <a:ext uri="{FF2B5EF4-FFF2-40B4-BE49-F238E27FC236}">
                  <a16:creationId xmlns:a16="http://schemas.microsoft.com/office/drawing/2014/main" id="{17F94910-9FD7-42AF-C320-4BA4FA913CD4}"/>
                </a:ext>
              </a:extLst>
            </p:cNvPr>
            <p:cNvCxnSpPr/>
            <p:nvPr/>
          </p:nvCxnSpPr>
          <p:spPr>
            <a:xfrm>
              <a:off x="2022370" y="3351229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>
              <a:extLst>
                <a:ext uri="{FF2B5EF4-FFF2-40B4-BE49-F238E27FC236}">
                  <a16:creationId xmlns:a16="http://schemas.microsoft.com/office/drawing/2014/main" id="{18AF52D8-C015-9F9A-4FEF-7FC72BEB4D79}"/>
                </a:ext>
              </a:extLst>
            </p:cNvPr>
            <p:cNvCxnSpPr/>
            <p:nvPr/>
          </p:nvCxnSpPr>
          <p:spPr>
            <a:xfrm flipH="1">
              <a:off x="2022370" y="3351229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682F53E-205F-EC5E-3BFB-41CB31978AC0}"/>
                </a:ext>
              </a:extLst>
            </p:cNvPr>
            <p:cNvSpPr txBox="1"/>
            <p:nvPr/>
          </p:nvSpPr>
          <p:spPr>
            <a:xfrm>
              <a:off x="2208371" y="324642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AC9C644-C984-2635-1DCD-F82059EB4F58}"/>
                </a:ext>
              </a:extLst>
            </p:cNvPr>
            <p:cNvSpPr txBox="1"/>
            <p:nvPr/>
          </p:nvSpPr>
          <p:spPr>
            <a:xfrm>
              <a:off x="2484355" y="346590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C01194A-2DEF-6334-4A8C-033D282110CC}"/>
                </a:ext>
              </a:extLst>
            </p:cNvPr>
            <p:cNvSpPr txBox="1"/>
            <p:nvPr/>
          </p:nvSpPr>
          <p:spPr>
            <a:xfrm>
              <a:off x="1925441" y="34492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9724A46-9D99-7FAB-D5A4-5E82FEFB5683}"/>
                </a:ext>
              </a:extLst>
            </p:cNvPr>
            <p:cNvSpPr txBox="1"/>
            <p:nvPr/>
          </p:nvSpPr>
          <p:spPr>
            <a:xfrm>
              <a:off x="2220033" y="372446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951D6BD-DE14-AAF4-9D36-E4DDAB17DD64}"/>
                </a:ext>
              </a:extLst>
            </p:cNvPr>
            <p:cNvSpPr txBox="1"/>
            <p:nvPr/>
          </p:nvSpPr>
          <p:spPr>
            <a:xfrm>
              <a:off x="6896892" y="39566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502AA37-C953-9D50-8C38-D768DFB7B4A9}"/>
                </a:ext>
              </a:extLst>
            </p:cNvPr>
            <p:cNvSpPr txBox="1"/>
            <p:nvPr/>
          </p:nvSpPr>
          <p:spPr>
            <a:xfrm>
              <a:off x="6945767" y="28690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3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23D54B9-F66C-A3F3-C8A4-440491657F59}"/>
                </a:ext>
              </a:extLst>
            </p:cNvPr>
            <p:cNvSpPr txBox="1"/>
            <p:nvPr/>
          </p:nvSpPr>
          <p:spPr>
            <a:xfrm>
              <a:off x="4079445" y="25571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7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7507984-63D0-4E21-4B14-D455CD892135}"/>
                </a:ext>
              </a:extLst>
            </p:cNvPr>
            <p:cNvSpPr txBox="1"/>
            <p:nvPr/>
          </p:nvSpPr>
          <p:spPr>
            <a:xfrm>
              <a:off x="5320263" y="372918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3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8AEB92D-F741-1B8F-001C-75841FB67154}"/>
                </a:ext>
              </a:extLst>
            </p:cNvPr>
            <p:cNvSpPr txBox="1"/>
            <p:nvPr/>
          </p:nvSpPr>
          <p:spPr>
            <a:xfrm>
              <a:off x="3071183" y="337973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4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C9EE81C-CDAA-4640-18EC-F3BE0104DA29}"/>
                </a:ext>
              </a:extLst>
            </p:cNvPr>
            <p:cNvSpPr txBox="1"/>
            <p:nvPr/>
          </p:nvSpPr>
          <p:spPr>
            <a:xfrm>
              <a:off x="5371949" y="333002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4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B209709-38BE-F5A5-EFED-D09AC6C4B56A}"/>
                </a:ext>
              </a:extLst>
            </p:cNvPr>
            <p:cNvSpPr txBox="1"/>
            <p:nvPr/>
          </p:nvSpPr>
          <p:spPr>
            <a:xfrm>
              <a:off x="4079445" y="41571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5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BD8047E-EC0A-CB30-EA81-1733C0EEF762}"/>
                  </a:ext>
                </a:extLst>
              </p:cNvPr>
              <p:cNvSpPr txBox="1"/>
              <p:nvPr/>
            </p:nvSpPr>
            <p:spPr>
              <a:xfrm>
                <a:off x="126795" y="1320162"/>
                <a:ext cx="11399921" cy="2344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Каждый кружок сетевого графика делим на четыре части (секторы), в  них записываются следующие данные: </a:t>
                </a:r>
              </a:p>
              <a:p>
                <a:pPr marL="285750" indent="-285750">
                  <a:buFontTx/>
                  <a:buChar char="-"/>
                </a:pPr>
                <a:r>
                  <a:rPr lang="ru-RU" dirty="0"/>
                  <a:t>верхний - предназначен для записи номера события - </a:t>
                </a:r>
                <a:r>
                  <a:rPr lang="ru-RU" i="1" dirty="0"/>
                  <a:t>i</a:t>
                </a:r>
                <a:r>
                  <a:rPr lang="ru-RU" dirty="0"/>
                  <a:t>; </a:t>
                </a:r>
              </a:p>
              <a:p>
                <a:pPr marL="285750" indent="-285750">
                  <a:buFontTx/>
                  <a:buChar char="-"/>
                </a:pPr>
                <a:endParaRPr lang="ru-RU" dirty="0"/>
              </a:p>
              <a:p>
                <a:pPr marL="285750" indent="-285750">
                  <a:buFontTx/>
                  <a:buChar char="-"/>
                </a:pPr>
                <a:r>
                  <a:rPr lang="ru-RU" dirty="0"/>
                  <a:t>правый - для записи раннего срока свершения события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sup>
                    </m:sSubSup>
                  </m:oMath>
                </a14:m>
                <a:r>
                  <a:rPr lang="ru-RU" dirty="0"/>
                  <a:t>; </a:t>
                </a:r>
              </a:p>
              <a:p>
                <a:pPr marL="285750" indent="-285750">
                  <a:buFontTx/>
                  <a:buChar char="-"/>
                </a:pPr>
                <a:endParaRPr lang="ru-RU" dirty="0"/>
              </a:p>
              <a:p>
                <a:pPr marL="285750" indent="-285750">
                  <a:buFontTx/>
                  <a:buChar char="-"/>
                </a:pPr>
                <a:r>
                  <a:rPr lang="ru-RU" dirty="0"/>
                  <a:t>левый - для записи позднего срока свершения события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ru-RU" b="0" i="0" dirty="0" smtClean="0">
                            <a:latin typeface="Cambria Math" panose="02040503050406030204" pitchFamily="18" charset="0"/>
                          </a:rPr>
                          <m:t>п</m:t>
                        </m:r>
                      </m:sup>
                    </m:sSubSup>
                  </m:oMath>
                </a14:m>
                <a:r>
                  <a:rPr lang="ru-RU" dirty="0"/>
                  <a:t>; </a:t>
                </a:r>
              </a:p>
              <a:p>
                <a:pPr marL="285750" indent="-285750">
                  <a:buFontTx/>
                  <a:buChar char="-"/>
                </a:pPr>
                <a:endParaRPr lang="ru-RU" dirty="0"/>
              </a:p>
              <a:p>
                <a:pPr marL="285750" indent="-285750">
                  <a:buFontTx/>
                  <a:buChar char="-"/>
                </a:pPr>
                <a:r>
                  <a:rPr lang="ru-RU" dirty="0"/>
                  <a:t>нижний - для записи резерва времени события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ru-RU" dirty="0"/>
                  <a:t>. </a:t>
                </a:r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BD8047E-EC0A-CB30-EA81-1733C0EEF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95" y="1320162"/>
                <a:ext cx="11399921" cy="2344553"/>
              </a:xfrm>
              <a:prstGeom prst="rect">
                <a:avLst/>
              </a:prstGeom>
              <a:blipFill>
                <a:blip r:embed="rId2"/>
                <a:stretch>
                  <a:fillRect l="-481" t="-1563" b="-3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Овал 60">
            <a:extLst>
              <a:ext uri="{FF2B5EF4-FFF2-40B4-BE49-F238E27FC236}">
                <a16:creationId xmlns:a16="http://schemas.microsoft.com/office/drawing/2014/main" id="{9895148B-A7D5-4605-A6A0-2B9D50C6FAF9}"/>
              </a:ext>
            </a:extLst>
          </p:cNvPr>
          <p:cNvSpPr/>
          <p:nvPr/>
        </p:nvSpPr>
        <p:spPr>
          <a:xfrm>
            <a:off x="6107787" y="1566913"/>
            <a:ext cx="386146" cy="3548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1321D318-4E76-40D7-9DD5-E6E50672BDAB}"/>
              </a:ext>
            </a:extLst>
          </p:cNvPr>
          <p:cNvSpPr/>
          <p:nvPr/>
        </p:nvSpPr>
        <p:spPr>
          <a:xfrm>
            <a:off x="6619618" y="2145936"/>
            <a:ext cx="373913" cy="39125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Овал 84">
            <a:extLst>
              <a:ext uri="{FF2B5EF4-FFF2-40B4-BE49-F238E27FC236}">
                <a16:creationId xmlns:a16="http://schemas.microsoft.com/office/drawing/2014/main" id="{19D6B198-89F0-49B1-AA84-2E6606F14378}"/>
              </a:ext>
            </a:extLst>
          </p:cNvPr>
          <p:cNvSpPr/>
          <p:nvPr/>
        </p:nvSpPr>
        <p:spPr>
          <a:xfrm>
            <a:off x="6619220" y="2805521"/>
            <a:ext cx="373913" cy="391259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7" name="Овал 86">
            <a:extLst>
              <a:ext uri="{FF2B5EF4-FFF2-40B4-BE49-F238E27FC236}">
                <a16:creationId xmlns:a16="http://schemas.microsoft.com/office/drawing/2014/main" id="{BB251D7C-1112-4896-887E-F71A68081176}"/>
              </a:ext>
            </a:extLst>
          </p:cNvPr>
          <p:cNvSpPr/>
          <p:nvPr/>
        </p:nvSpPr>
        <p:spPr>
          <a:xfrm>
            <a:off x="5909043" y="3261583"/>
            <a:ext cx="373913" cy="39125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861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0D6DD-0CA5-4C51-871C-091073A52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График </a:t>
            </a:r>
            <a:r>
              <a:rPr lang="ru-RU" dirty="0" err="1">
                <a:solidFill>
                  <a:srgbClr val="002060"/>
                </a:solidFill>
                <a:latin typeface="Raleway Black"/>
              </a:rPr>
              <a:t>Ганта</a:t>
            </a:r>
            <a:endParaRPr lang="ru-RU" dirty="0">
              <a:solidFill>
                <a:srgbClr val="002060"/>
              </a:solidFill>
              <a:latin typeface="Raleway Black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AC45BE-7D14-47DB-9A22-1957A756F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067" y="1461558"/>
            <a:ext cx="10515600" cy="91757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Для рассмотренного примера построим график </a:t>
            </a:r>
            <a:r>
              <a:rPr lang="ru-RU" dirty="0" err="1"/>
              <a:t>Ганта</a:t>
            </a:r>
            <a:r>
              <a:rPr lang="ru-RU" dirty="0"/>
              <a:t> по ранним срокам начала и окончания работ с резервами времени.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947AD8E2-8FC4-4777-B0E4-D096D62F1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455655"/>
              </p:ext>
            </p:extLst>
          </p:nvPr>
        </p:nvGraphicFramePr>
        <p:xfrm>
          <a:off x="660401" y="2598206"/>
          <a:ext cx="10261597" cy="3324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498">
                  <a:extLst>
                    <a:ext uri="{9D8B030D-6E8A-4147-A177-3AD203B41FA5}">
                      <a16:colId xmlns:a16="http://schemas.microsoft.com/office/drawing/2014/main" val="3298122787"/>
                    </a:ext>
                  </a:extLst>
                </a:gridCol>
                <a:gridCol w="723769">
                  <a:extLst>
                    <a:ext uri="{9D8B030D-6E8A-4147-A177-3AD203B41FA5}">
                      <a16:colId xmlns:a16="http://schemas.microsoft.com/office/drawing/2014/main" val="207474986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552733856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619470510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243683762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215395676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4294102351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3154647496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83008373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2036539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3409320923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962707984"/>
                    </a:ext>
                  </a:extLst>
                </a:gridCol>
              </a:tblGrid>
              <a:tr h="397933">
                <a:tc rowSpan="2">
                  <a:txBody>
                    <a:bodyPr/>
                    <a:lstStyle/>
                    <a:p>
                      <a:r>
                        <a:rPr lang="ru-RU" dirty="0"/>
                        <a:t>Код работ</a:t>
                      </a:r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Дни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377491"/>
                  </a:ext>
                </a:extLst>
              </a:tr>
              <a:tr h="347004">
                <a:tc vMerge="1">
                  <a:txBody>
                    <a:bodyPr/>
                    <a:lstStyle/>
                    <a:p>
                      <a:r>
                        <a:rPr lang="ru-RU" dirty="0"/>
                        <a:t>Код работ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38392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86616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766289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22632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551863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017982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110328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013463"/>
                  </a:ext>
                </a:extLst>
              </a:tr>
            </a:tbl>
          </a:graphicData>
        </a:graphic>
      </p:graphicFrame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FA27068-B25E-424C-8445-9148123A8FB1}"/>
              </a:ext>
            </a:extLst>
          </p:cNvPr>
          <p:cNvCxnSpPr/>
          <p:nvPr/>
        </p:nvCxnSpPr>
        <p:spPr>
          <a:xfrm>
            <a:off x="1651000" y="3540546"/>
            <a:ext cx="32850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A37F159-9909-4183-A591-E9A030B9BE57}"/>
              </a:ext>
            </a:extLst>
          </p:cNvPr>
          <p:cNvCxnSpPr>
            <a:cxnSpLocks/>
          </p:cNvCxnSpPr>
          <p:nvPr/>
        </p:nvCxnSpPr>
        <p:spPr>
          <a:xfrm>
            <a:off x="1651000" y="3955413"/>
            <a:ext cx="58504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BDE0882-F2F4-4294-A31F-0F5A0F65ADE1}"/>
              </a:ext>
            </a:extLst>
          </p:cNvPr>
          <p:cNvCxnSpPr>
            <a:cxnSpLocks/>
          </p:cNvCxnSpPr>
          <p:nvPr/>
        </p:nvCxnSpPr>
        <p:spPr>
          <a:xfrm>
            <a:off x="7501467" y="3939959"/>
            <a:ext cx="89746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F6FDFD78-583F-49B7-914A-1BD10F68427A}"/>
              </a:ext>
            </a:extLst>
          </p:cNvPr>
          <p:cNvCxnSpPr>
            <a:cxnSpLocks/>
          </p:cNvCxnSpPr>
          <p:nvPr/>
        </p:nvCxnSpPr>
        <p:spPr>
          <a:xfrm>
            <a:off x="1651000" y="4311013"/>
            <a:ext cx="4140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E852A52-6CA5-4ACB-8876-10C8AFA7E58E}"/>
              </a:ext>
            </a:extLst>
          </p:cNvPr>
          <p:cNvCxnSpPr>
            <a:cxnSpLocks/>
          </p:cNvCxnSpPr>
          <p:nvPr/>
        </p:nvCxnSpPr>
        <p:spPr>
          <a:xfrm>
            <a:off x="5791200" y="4295559"/>
            <a:ext cx="339513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8DD2DA4B-DA19-4454-A6CB-8CCFBD33E037}"/>
              </a:ext>
            </a:extLst>
          </p:cNvPr>
          <p:cNvCxnSpPr>
            <a:cxnSpLocks/>
          </p:cNvCxnSpPr>
          <p:nvPr/>
        </p:nvCxnSpPr>
        <p:spPr>
          <a:xfrm>
            <a:off x="7501467" y="4979880"/>
            <a:ext cx="168486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53AF8C2B-C2F4-4FCF-9573-1E6CC2A578E5}"/>
              </a:ext>
            </a:extLst>
          </p:cNvPr>
          <p:cNvCxnSpPr>
            <a:cxnSpLocks/>
          </p:cNvCxnSpPr>
          <p:nvPr/>
        </p:nvCxnSpPr>
        <p:spPr>
          <a:xfrm flipV="1">
            <a:off x="4936067" y="4631268"/>
            <a:ext cx="3445933" cy="1989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9694F452-C6F4-4F44-A461-B73B89BE0C89}"/>
              </a:ext>
            </a:extLst>
          </p:cNvPr>
          <p:cNvCxnSpPr>
            <a:cxnSpLocks/>
          </p:cNvCxnSpPr>
          <p:nvPr/>
        </p:nvCxnSpPr>
        <p:spPr>
          <a:xfrm>
            <a:off x="4936067" y="4979880"/>
            <a:ext cx="2565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BDB3F31A-F090-400C-964A-83959DCC1739}"/>
              </a:ext>
            </a:extLst>
          </p:cNvPr>
          <p:cNvCxnSpPr>
            <a:cxnSpLocks/>
          </p:cNvCxnSpPr>
          <p:nvPr/>
        </p:nvCxnSpPr>
        <p:spPr>
          <a:xfrm>
            <a:off x="8398934" y="5428613"/>
            <a:ext cx="253999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42F56A0A-578F-4197-A895-12415C7E940B}"/>
              </a:ext>
            </a:extLst>
          </p:cNvPr>
          <p:cNvCxnSpPr>
            <a:cxnSpLocks/>
          </p:cNvCxnSpPr>
          <p:nvPr/>
        </p:nvCxnSpPr>
        <p:spPr>
          <a:xfrm>
            <a:off x="7539567" y="5741880"/>
            <a:ext cx="17229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3127644E-B83E-4CA1-8DC5-B688223F1442}"/>
              </a:ext>
            </a:extLst>
          </p:cNvPr>
          <p:cNvCxnSpPr>
            <a:cxnSpLocks/>
          </p:cNvCxnSpPr>
          <p:nvPr/>
        </p:nvCxnSpPr>
        <p:spPr>
          <a:xfrm>
            <a:off x="4936067" y="3540546"/>
            <a:ext cx="0" cy="14393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A4E549DB-C47D-43DD-89C6-E08A5EE98275}"/>
              </a:ext>
            </a:extLst>
          </p:cNvPr>
          <p:cNvCxnSpPr>
            <a:cxnSpLocks/>
          </p:cNvCxnSpPr>
          <p:nvPr/>
        </p:nvCxnSpPr>
        <p:spPr>
          <a:xfrm>
            <a:off x="8390468" y="3955413"/>
            <a:ext cx="0" cy="14393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4E9FAC06-4B94-4C99-8ED9-892242F5B7FB}"/>
              </a:ext>
            </a:extLst>
          </p:cNvPr>
          <p:cNvCxnSpPr>
            <a:cxnSpLocks/>
          </p:cNvCxnSpPr>
          <p:nvPr/>
        </p:nvCxnSpPr>
        <p:spPr>
          <a:xfrm>
            <a:off x="7501467" y="3989279"/>
            <a:ext cx="0" cy="175260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AF24B66A-A469-48B1-A791-7204798404C1}"/>
              </a:ext>
            </a:extLst>
          </p:cNvPr>
          <p:cNvCxnSpPr>
            <a:cxnSpLocks/>
          </p:cNvCxnSpPr>
          <p:nvPr/>
        </p:nvCxnSpPr>
        <p:spPr>
          <a:xfrm>
            <a:off x="9254064" y="5741880"/>
            <a:ext cx="168486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9176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56755-E72E-4906-81BA-738C3320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0"/>
            <a:ext cx="10515600" cy="107526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Трудозатраты на выполнение работ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D357C1-509B-4A7F-A488-3581F363D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5267"/>
            <a:ext cx="10515600" cy="107526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Для выполнения работ привлекаются сотрудники компании, чтобы выполнить всю совокупность работ</a:t>
            </a:r>
          </a:p>
        </p:txBody>
      </p:sp>
      <p:graphicFrame>
        <p:nvGraphicFramePr>
          <p:cNvPr id="4" name="Объект 1">
            <a:extLst>
              <a:ext uri="{FF2B5EF4-FFF2-40B4-BE49-F238E27FC236}">
                <a16:creationId xmlns:a16="http://schemas.microsoft.com/office/drawing/2014/main" id="{36842193-3E8D-4620-B8F7-E265733127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3232648"/>
              </p:ext>
            </p:extLst>
          </p:nvPr>
        </p:nvGraphicFramePr>
        <p:xfrm>
          <a:off x="916404" y="2072272"/>
          <a:ext cx="804979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317">
                  <a:extLst>
                    <a:ext uri="{9D8B030D-6E8A-4147-A177-3AD203B41FA5}">
                      <a16:colId xmlns:a16="http://schemas.microsoft.com/office/drawing/2014/main" val="222147444"/>
                    </a:ext>
                  </a:extLst>
                </a:gridCol>
                <a:gridCol w="1558849">
                  <a:extLst>
                    <a:ext uri="{9D8B030D-6E8A-4147-A177-3AD203B41FA5}">
                      <a16:colId xmlns:a16="http://schemas.microsoft.com/office/drawing/2014/main" val="2033634412"/>
                    </a:ext>
                  </a:extLst>
                </a:gridCol>
                <a:gridCol w="2235410">
                  <a:extLst>
                    <a:ext uri="{9D8B030D-6E8A-4147-A177-3AD203B41FA5}">
                      <a16:colId xmlns:a16="http://schemas.microsoft.com/office/drawing/2014/main" val="2278608689"/>
                    </a:ext>
                  </a:extLst>
                </a:gridCol>
                <a:gridCol w="1922459">
                  <a:extLst>
                    <a:ext uri="{9D8B030D-6E8A-4147-A177-3AD203B41FA5}">
                      <a16:colId xmlns:a16="http://schemas.microsoft.com/office/drawing/2014/main" val="2295462228"/>
                    </a:ext>
                  </a:extLst>
                </a:gridCol>
                <a:gridCol w="1660761">
                  <a:extLst>
                    <a:ext uri="{9D8B030D-6E8A-4147-A177-3AD203B41FA5}">
                      <a16:colId xmlns:a16="http://schemas.microsoft.com/office/drawing/2014/main" val="259479800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 п/п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 работы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Продолжитель-ность</a:t>
                      </a:r>
                      <a:r>
                        <a:rPr lang="ru-RU" dirty="0"/>
                        <a:t> работ, дни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Численность, чел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Трудоемкость, </a:t>
                      </a:r>
                    </a:p>
                    <a:p>
                      <a:pPr algn="ctr"/>
                      <a:r>
                        <a:rPr lang="ru-RU" dirty="0"/>
                        <a:t>человеко-дни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207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958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970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67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38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738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514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29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8285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0D6DD-0CA5-4C51-871C-091073A52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-30199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Диаграмма занятости сотрудников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947AD8E2-8FC4-4777-B0E4-D096D62F1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820166"/>
              </p:ext>
            </p:extLst>
          </p:nvPr>
        </p:nvGraphicFramePr>
        <p:xfrm>
          <a:off x="508000" y="735540"/>
          <a:ext cx="10261597" cy="5884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498">
                  <a:extLst>
                    <a:ext uri="{9D8B030D-6E8A-4147-A177-3AD203B41FA5}">
                      <a16:colId xmlns:a16="http://schemas.microsoft.com/office/drawing/2014/main" val="3298122787"/>
                    </a:ext>
                  </a:extLst>
                </a:gridCol>
                <a:gridCol w="723769">
                  <a:extLst>
                    <a:ext uri="{9D8B030D-6E8A-4147-A177-3AD203B41FA5}">
                      <a16:colId xmlns:a16="http://schemas.microsoft.com/office/drawing/2014/main" val="207474986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552733856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619470510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243683762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215395676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4294102351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3154647496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83008373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2036539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3409320923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962707984"/>
                    </a:ext>
                  </a:extLst>
                </a:gridCol>
              </a:tblGrid>
              <a:tr h="397933">
                <a:tc rowSpan="2">
                  <a:txBody>
                    <a:bodyPr/>
                    <a:lstStyle/>
                    <a:p>
                      <a:r>
                        <a:rPr lang="ru-RU" dirty="0"/>
                        <a:t>Код работ</a:t>
                      </a:r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Дни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377491"/>
                  </a:ext>
                </a:extLst>
              </a:tr>
              <a:tr h="347004">
                <a:tc vMerge="1">
                  <a:txBody>
                    <a:bodyPr/>
                    <a:lstStyle/>
                    <a:p>
                      <a:r>
                        <a:rPr lang="ru-RU" dirty="0"/>
                        <a:t>Код работ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38392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86616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766289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22632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551863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017982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110328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013463"/>
                  </a:ext>
                </a:extLst>
              </a:tr>
              <a:tr h="347004">
                <a:tc gridSpan="1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Диаграмма распределения сотрудников по работам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90851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90612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429772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43301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113777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037144"/>
                  </a:ext>
                </a:extLst>
              </a:tr>
              <a:tr h="350358"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815891"/>
                  </a:ext>
                </a:extLst>
              </a:tr>
            </a:tbl>
          </a:graphicData>
        </a:graphic>
      </p:graphicFrame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FA27068-B25E-424C-8445-9148123A8FB1}"/>
              </a:ext>
            </a:extLst>
          </p:cNvPr>
          <p:cNvCxnSpPr/>
          <p:nvPr/>
        </p:nvCxnSpPr>
        <p:spPr>
          <a:xfrm>
            <a:off x="1481667" y="1686346"/>
            <a:ext cx="32850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A37F159-9909-4183-A591-E9A030B9BE57}"/>
              </a:ext>
            </a:extLst>
          </p:cNvPr>
          <p:cNvCxnSpPr>
            <a:cxnSpLocks/>
          </p:cNvCxnSpPr>
          <p:nvPr/>
        </p:nvCxnSpPr>
        <p:spPr>
          <a:xfrm>
            <a:off x="1481667" y="2101213"/>
            <a:ext cx="58504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BDE0882-F2F4-4294-A31F-0F5A0F65ADE1}"/>
              </a:ext>
            </a:extLst>
          </p:cNvPr>
          <p:cNvCxnSpPr>
            <a:cxnSpLocks/>
          </p:cNvCxnSpPr>
          <p:nvPr/>
        </p:nvCxnSpPr>
        <p:spPr>
          <a:xfrm>
            <a:off x="7332134" y="2085759"/>
            <a:ext cx="89746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F6FDFD78-583F-49B7-914A-1BD10F68427A}"/>
              </a:ext>
            </a:extLst>
          </p:cNvPr>
          <p:cNvCxnSpPr>
            <a:cxnSpLocks/>
          </p:cNvCxnSpPr>
          <p:nvPr/>
        </p:nvCxnSpPr>
        <p:spPr>
          <a:xfrm>
            <a:off x="1481667" y="2456813"/>
            <a:ext cx="4140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E852A52-6CA5-4ACB-8876-10C8AFA7E58E}"/>
              </a:ext>
            </a:extLst>
          </p:cNvPr>
          <p:cNvCxnSpPr>
            <a:cxnSpLocks/>
          </p:cNvCxnSpPr>
          <p:nvPr/>
        </p:nvCxnSpPr>
        <p:spPr>
          <a:xfrm>
            <a:off x="5621867" y="2441359"/>
            <a:ext cx="339513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8DD2DA4B-DA19-4454-A6CB-8CCFBD33E037}"/>
              </a:ext>
            </a:extLst>
          </p:cNvPr>
          <p:cNvCxnSpPr>
            <a:cxnSpLocks/>
          </p:cNvCxnSpPr>
          <p:nvPr/>
        </p:nvCxnSpPr>
        <p:spPr>
          <a:xfrm>
            <a:off x="7332134" y="3125680"/>
            <a:ext cx="168486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53AF8C2B-C2F4-4FCF-9573-1E6CC2A578E5}"/>
              </a:ext>
            </a:extLst>
          </p:cNvPr>
          <p:cNvCxnSpPr>
            <a:cxnSpLocks/>
          </p:cNvCxnSpPr>
          <p:nvPr/>
        </p:nvCxnSpPr>
        <p:spPr>
          <a:xfrm flipV="1">
            <a:off x="4766734" y="2777068"/>
            <a:ext cx="3445933" cy="1989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9694F452-C6F4-4F44-A461-B73B89BE0C89}"/>
              </a:ext>
            </a:extLst>
          </p:cNvPr>
          <p:cNvCxnSpPr>
            <a:cxnSpLocks/>
          </p:cNvCxnSpPr>
          <p:nvPr/>
        </p:nvCxnSpPr>
        <p:spPr>
          <a:xfrm>
            <a:off x="4766734" y="3125680"/>
            <a:ext cx="2565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BDB3F31A-F090-400C-964A-83959DCC1739}"/>
              </a:ext>
            </a:extLst>
          </p:cNvPr>
          <p:cNvCxnSpPr>
            <a:cxnSpLocks/>
          </p:cNvCxnSpPr>
          <p:nvPr/>
        </p:nvCxnSpPr>
        <p:spPr>
          <a:xfrm>
            <a:off x="8229601" y="3574413"/>
            <a:ext cx="253999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42F56A0A-578F-4197-A895-12415C7E940B}"/>
              </a:ext>
            </a:extLst>
          </p:cNvPr>
          <p:cNvCxnSpPr>
            <a:cxnSpLocks/>
          </p:cNvCxnSpPr>
          <p:nvPr/>
        </p:nvCxnSpPr>
        <p:spPr>
          <a:xfrm>
            <a:off x="7370234" y="3887680"/>
            <a:ext cx="17229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3127644E-B83E-4CA1-8DC5-B688223F1442}"/>
              </a:ext>
            </a:extLst>
          </p:cNvPr>
          <p:cNvCxnSpPr>
            <a:cxnSpLocks/>
          </p:cNvCxnSpPr>
          <p:nvPr/>
        </p:nvCxnSpPr>
        <p:spPr>
          <a:xfrm>
            <a:off x="4766734" y="1686346"/>
            <a:ext cx="0" cy="14393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A4E549DB-C47D-43DD-89C6-E08A5EE98275}"/>
              </a:ext>
            </a:extLst>
          </p:cNvPr>
          <p:cNvCxnSpPr>
            <a:cxnSpLocks/>
          </p:cNvCxnSpPr>
          <p:nvPr/>
        </p:nvCxnSpPr>
        <p:spPr>
          <a:xfrm>
            <a:off x="8221135" y="2101213"/>
            <a:ext cx="0" cy="14393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4E9FAC06-4B94-4C99-8ED9-892242F5B7FB}"/>
              </a:ext>
            </a:extLst>
          </p:cNvPr>
          <p:cNvCxnSpPr>
            <a:cxnSpLocks/>
          </p:cNvCxnSpPr>
          <p:nvPr/>
        </p:nvCxnSpPr>
        <p:spPr>
          <a:xfrm>
            <a:off x="7332134" y="2135079"/>
            <a:ext cx="0" cy="175260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AF24B66A-A469-48B1-A791-7204798404C1}"/>
              </a:ext>
            </a:extLst>
          </p:cNvPr>
          <p:cNvCxnSpPr>
            <a:cxnSpLocks/>
          </p:cNvCxnSpPr>
          <p:nvPr/>
        </p:nvCxnSpPr>
        <p:spPr>
          <a:xfrm>
            <a:off x="9084731" y="3887680"/>
            <a:ext cx="168486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7F760FE7-56AD-4BE5-A794-C3CC7CFDD0E2}"/>
              </a:ext>
            </a:extLst>
          </p:cNvPr>
          <p:cNvGrpSpPr/>
          <p:nvPr/>
        </p:nvGrpSpPr>
        <p:grpSpPr>
          <a:xfrm>
            <a:off x="1502833" y="5171654"/>
            <a:ext cx="9207501" cy="1452247"/>
            <a:chOff x="1502833" y="5171654"/>
            <a:chExt cx="9207501" cy="1452247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F8C56E7E-735C-4318-B9B3-AF87183664B7}"/>
                </a:ext>
              </a:extLst>
            </p:cNvPr>
            <p:cNvSpPr/>
            <p:nvPr/>
          </p:nvSpPr>
          <p:spPr>
            <a:xfrm>
              <a:off x="1502833" y="5437081"/>
              <a:ext cx="3285059" cy="11827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BDA39A94-F202-4A87-94DA-B95ADED6B218}"/>
                </a:ext>
              </a:extLst>
            </p:cNvPr>
            <p:cNvSpPr/>
            <p:nvPr/>
          </p:nvSpPr>
          <p:spPr>
            <a:xfrm>
              <a:off x="4766726" y="5171654"/>
              <a:ext cx="855138" cy="1452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D6A4E1C-35E3-4A22-9147-D3D8C5BB5080}"/>
                </a:ext>
              </a:extLst>
            </p:cNvPr>
            <p:cNvSpPr/>
            <p:nvPr/>
          </p:nvSpPr>
          <p:spPr>
            <a:xfrm>
              <a:off x="5621862" y="5511799"/>
              <a:ext cx="1710269" cy="11120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19CEE9E6-AEBF-485B-9187-9B03885B73E4}"/>
                </a:ext>
              </a:extLst>
            </p:cNvPr>
            <p:cNvSpPr/>
            <p:nvPr/>
          </p:nvSpPr>
          <p:spPr>
            <a:xfrm>
              <a:off x="7332130" y="6122460"/>
              <a:ext cx="1684866" cy="5014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7D1622CC-4692-4CD2-9534-A2F11A8468C1}"/>
                </a:ext>
              </a:extLst>
            </p:cNvPr>
            <p:cNvSpPr/>
            <p:nvPr/>
          </p:nvSpPr>
          <p:spPr>
            <a:xfrm>
              <a:off x="9025468" y="6460068"/>
              <a:ext cx="1684866" cy="1608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304D83A-0C74-4AE8-AED2-4966631BA485}"/>
              </a:ext>
            </a:extLst>
          </p:cNvPr>
          <p:cNvSpPr txBox="1"/>
          <p:nvPr/>
        </p:nvSpPr>
        <p:spPr>
          <a:xfrm>
            <a:off x="8674100" y="4333519"/>
            <a:ext cx="3242733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На работу придется выделить 20 сотрудников, хотя часть времени они будут простаивать</a:t>
            </a:r>
          </a:p>
        </p:txBody>
      </p:sp>
    </p:spTree>
    <p:extLst>
      <p:ext uri="{BB962C8B-B14F-4D97-AF65-F5344CB8AC3E}">
        <p14:creationId xmlns:p14="http://schemas.microsoft.com/office/powerpoint/2010/main" val="897571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AD8AB36-014B-4536-B5A0-5B886E54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37908"/>
          </a:xfrm>
        </p:spPr>
        <p:txBody>
          <a:bodyPr/>
          <a:lstStyle/>
          <a:p>
            <a:r>
              <a:rPr lang="ru-RU" dirty="0"/>
              <a:t>Если цель оптимизации – сокращение численности бригады –то надо задействовать резервы времени и уменьшить численность при сохранении трудоемкости работ</a:t>
            </a:r>
          </a:p>
          <a:p>
            <a:r>
              <a:rPr lang="ru-RU" dirty="0"/>
              <a:t>Если цель – оптимизации – сокращение продолжительности критического пути (ускорение завершения проекта), то надо добавить сотрудников на работы, не имеющие резерва времени.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FAD008D-AC9E-4B2F-B0D0-EC6166A1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Оптимизация занятости сотрудников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BD2DA-4B1F-48B0-A863-13097D44B478}"/>
              </a:ext>
            </a:extLst>
          </p:cNvPr>
          <p:cNvSpPr txBox="1"/>
          <p:nvPr/>
        </p:nvSpPr>
        <p:spPr>
          <a:xfrm>
            <a:off x="3268133" y="4698470"/>
            <a:ext cx="5630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Оптимизация предполагает, что трудоемкость работ нормативно определена и не меняется в процессе оптимизации, а также, что все работники взаимозаменяемы.</a:t>
            </a:r>
          </a:p>
        </p:txBody>
      </p:sp>
    </p:spTree>
    <p:extLst>
      <p:ext uri="{BB962C8B-B14F-4D97-AF65-F5344CB8AC3E}">
        <p14:creationId xmlns:p14="http://schemas.microsoft.com/office/powerpoint/2010/main" val="3147770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DB6AD32-6C9D-424F-B1C8-374C4A61CD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1633" y="1820845"/>
                <a:ext cx="10989733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Численность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Суммарная трудоемкость работ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Продолжительность критического пути</m:t>
                        </m:r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Для рассмотренного примера </a:t>
                </a:r>
              </a:p>
              <a:p>
                <a:pPr marL="0" indent="0">
                  <a:buNone/>
                </a:pPr>
                <a:r>
                  <a:rPr lang="ru-RU" dirty="0"/>
                  <a:t>Численность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3∗4+8∗7+5∗5+2∗4+5∗3+2∗3+5∗2=132</m:t>
                        </m:r>
                      </m:num>
                      <m:den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=12 </m:t>
                    </m:r>
                  </m:oMath>
                </a14:m>
                <a:endParaRPr lang="ru-RU" b="0" dirty="0"/>
              </a:p>
              <a:p>
                <a:pPr marL="0" indent="0">
                  <a:buNone/>
                </a:pPr>
                <a:r>
                  <a:rPr lang="ru-RU" dirty="0"/>
                  <a:t>На 5 день проекта задействовано больше всего сотрудников – 20. В этот день выполняются работы 1-3, 1-4, 2-3,2-4. При этом работа 1-3 имеет резерв 1 день, а работа 1-4 имеет резерв 4 дня.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DB6AD32-6C9D-424F-B1C8-374C4A61CD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1633" y="1820845"/>
                <a:ext cx="10989733" cy="4351338"/>
              </a:xfrm>
              <a:blipFill>
                <a:blip r:embed="rId2"/>
                <a:stretch>
                  <a:fillRect l="-1165" t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90E485E-2B3A-4165-92BC-96C2E496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Оптимальное число сотрудников при сохранении продолжительности выполнения работ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E1722E8-C312-437D-BF3E-31319E0773E4}"/>
              </a:ext>
            </a:extLst>
          </p:cNvPr>
          <p:cNvGrpSpPr/>
          <p:nvPr/>
        </p:nvGrpSpPr>
        <p:grpSpPr>
          <a:xfrm>
            <a:off x="1502833" y="5171654"/>
            <a:ext cx="9207501" cy="1452247"/>
            <a:chOff x="1502833" y="5171654"/>
            <a:chExt cx="9207501" cy="1452247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53E266ED-C1A6-4A78-940E-40780B3E3A22}"/>
                </a:ext>
              </a:extLst>
            </p:cNvPr>
            <p:cNvSpPr/>
            <p:nvPr/>
          </p:nvSpPr>
          <p:spPr>
            <a:xfrm>
              <a:off x="1502833" y="5437081"/>
              <a:ext cx="3285059" cy="11827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F7360B6B-9F7C-4C97-8E89-8CDFE1BFFC2C}"/>
                </a:ext>
              </a:extLst>
            </p:cNvPr>
            <p:cNvSpPr/>
            <p:nvPr/>
          </p:nvSpPr>
          <p:spPr>
            <a:xfrm>
              <a:off x="4766726" y="5171654"/>
              <a:ext cx="855138" cy="1452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659882EB-1B7F-4FFA-9F1A-0CD8894EEEB9}"/>
                </a:ext>
              </a:extLst>
            </p:cNvPr>
            <p:cNvSpPr/>
            <p:nvPr/>
          </p:nvSpPr>
          <p:spPr>
            <a:xfrm>
              <a:off x="5621862" y="5511799"/>
              <a:ext cx="1710269" cy="11120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52B1F126-0EF9-44A8-9951-624F90F00B38}"/>
                </a:ext>
              </a:extLst>
            </p:cNvPr>
            <p:cNvSpPr/>
            <p:nvPr/>
          </p:nvSpPr>
          <p:spPr>
            <a:xfrm>
              <a:off x="7332130" y="6172182"/>
              <a:ext cx="1684866" cy="45171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A22AC086-65A6-4CA9-AA0E-845DEE24CAF0}"/>
                </a:ext>
              </a:extLst>
            </p:cNvPr>
            <p:cNvSpPr/>
            <p:nvPr/>
          </p:nvSpPr>
          <p:spPr>
            <a:xfrm>
              <a:off x="9025468" y="6460068"/>
              <a:ext cx="1684866" cy="1608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58DC907C-8FFB-4A68-9A56-ABD3181299A2}"/>
              </a:ext>
            </a:extLst>
          </p:cNvPr>
          <p:cNvCxnSpPr/>
          <p:nvPr/>
        </p:nvCxnSpPr>
        <p:spPr>
          <a:xfrm>
            <a:off x="677334" y="5511799"/>
            <a:ext cx="10033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21D5ACD-2533-432D-AC7A-66A8B401D1CA}"/>
              </a:ext>
            </a:extLst>
          </p:cNvPr>
          <p:cNvCxnSpPr/>
          <p:nvPr/>
        </p:nvCxnSpPr>
        <p:spPr>
          <a:xfrm>
            <a:off x="677334" y="6273802"/>
            <a:ext cx="10033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DC437246-7CC4-4873-8F24-781C2DDBD9F2}"/>
              </a:ext>
            </a:extLst>
          </p:cNvPr>
          <p:cNvCxnSpPr/>
          <p:nvPr/>
        </p:nvCxnSpPr>
        <p:spPr>
          <a:xfrm>
            <a:off x="677334" y="5895793"/>
            <a:ext cx="10033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415D3EF-D9E7-496D-8A43-896AA83D5695}"/>
              </a:ext>
            </a:extLst>
          </p:cNvPr>
          <p:cNvSpPr txBox="1"/>
          <p:nvPr/>
        </p:nvSpPr>
        <p:spPr>
          <a:xfrm>
            <a:off x="410634" y="6104506"/>
            <a:ext cx="49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5FB26A-43CE-40B7-935F-DEF0F5B655EC}"/>
              </a:ext>
            </a:extLst>
          </p:cNvPr>
          <p:cNvSpPr txBox="1"/>
          <p:nvPr/>
        </p:nvSpPr>
        <p:spPr>
          <a:xfrm>
            <a:off x="355602" y="5737575"/>
            <a:ext cx="49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A075CF-0169-483F-9D8A-E7DA34923CA5}"/>
              </a:ext>
            </a:extLst>
          </p:cNvPr>
          <p:cNvSpPr txBox="1"/>
          <p:nvPr/>
        </p:nvSpPr>
        <p:spPr>
          <a:xfrm>
            <a:off x="385235" y="5308217"/>
            <a:ext cx="49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15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3F5EE43E-25A6-433F-B5F1-F42D08BC1F10}"/>
              </a:ext>
            </a:extLst>
          </p:cNvPr>
          <p:cNvCxnSpPr/>
          <p:nvPr/>
        </p:nvCxnSpPr>
        <p:spPr>
          <a:xfrm>
            <a:off x="410634" y="5737575"/>
            <a:ext cx="10033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FECA51B-BC0B-4ECA-B8D9-7B6D275B8079}"/>
              </a:ext>
            </a:extLst>
          </p:cNvPr>
          <p:cNvSpPr txBox="1"/>
          <p:nvPr/>
        </p:nvSpPr>
        <p:spPr>
          <a:xfrm>
            <a:off x="10426700" y="5526461"/>
            <a:ext cx="49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12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C6CA7E8C-254E-4287-B852-FE52DB47E0A9}"/>
              </a:ext>
            </a:extLst>
          </p:cNvPr>
          <p:cNvSpPr/>
          <p:nvPr/>
        </p:nvSpPr>
        <p:spPr>
          <a:xfrm>
            <a:off x="4504264" y="4919133"/>
            <a:ext cx="1278465" cy="1938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6799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B5C11-7CB2-400B-ABD8-210D7DCB1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Оптимизация числа сотрудников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74CA5E9-7055-478C-89B0-EFFA3F7265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5067" y="1351492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dirty="0"/>
                  <a:t>Изменение продолжительности работ 1-3 на 1 день не изменит общей продолжительности работ. Численность сотрудников можно уменьшить до величины: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Ч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опт</m:t>
                        </m:r>
                      </m:sub>
                    </m:sSub>
                  </m:oMath>
                </a14:m>
                <a:r>
                  <a:rPr lang="ru-RU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трудоемкость работы</m:t>
                        </m:r>
                      </m:num>
                      <m:den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продолжительность+резерв</m:t>
                        </m:r>
                      </m:den>
                    </m:f>
                  </m:oMath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Ч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опт</m:t>
                        </m:r>
                      </m:sub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1−3</m:t>
                        </m:r>
                      </m:sup>
                    </m:sSubSup>
                  </m:oMath>
                </a14:m>
                <a:r>
                  <a:rPr lang="ru-RU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7+1</m:t>
                        </m:r>
                      </m:den>
                    </m:f>
                  </m:oMath>
                </a14:m>
                <a:r>
                  <a:rPr lang="ru-RU" dirty="0"/>
                  <a:t>=7     </a:t>
                </a:r>
                <a:r>
                  <a:rPr lang="ru-RU" sz="2000" dirty="0"/>
                  <a:t>Численность на данной работе можно уменьшить на 1 сотрудника</a:t>
                </a:r>
              </a:p>
              <a:p>
                <a:pPr marL="0" indent="0">
                  <a:buNone/>
                </a:pPr>
                <a:endParaRPr lang="ru-RU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Ч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опт</m:t>
                        </m:r>
                      </m:sub>
                      <m:sup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lang="ru-RU" sz="20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000" b="0" i="1" dirty="0" smtClean="0"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ru-RU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ru-RU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ru-RU" sz="2000" dirty="0"/>
                  <a:t>=2,7     Численность на данной работе можно уменьшить на 2 сотрудников</a:t>
                </a:r>
              </a:p>
              <a:p>
                <a:pPr marL="0" indent="0">
                  <a:buNone/>
                </a:pPr>
                <a:endParaRPr lang="ru-RU" sz="2000" dirty="0"/>
              </a:p>
              <a:p>
                <a:pPr marL="0" indent="0">
                  <a:buNone/>
                </a:pPr>
                <a:r>
                  <a:rPr lang="ru-RU" sz="2000" dirty="0"/>
                  <a:t>Таким образом на 5 день  и на весь проект можно задействовать 17 сотрудников вместо 20. 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74CA5E9-7055-478C-89B0-EFFA3F7265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5067" y="1351492"/>
                <a:ext cx="10515600" cy="4351338"/>
              </a:xfrm>
              <a:blipFill>
                <a:blip r:embed="rId2"/>
                <a:stretch>
                  <a:fillRect l="-1043" t="-32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77591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B5C11-7CB2-400B-ABD8-210D7DCB1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Оптимизация продолжительности проекта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4CA5E9-7055-478C-89B0-EFFA3F726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24" y="132609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Предположим, что надо уменьшить продолжительность проекта. При этом более интенсивно задействовать всех 17 сотрудников.</a:t>
            </a:r>
          </a:p>
          <a:p>
            <a:pPr marL="0" indent="0">
              <a:buNone/>
            </a:pPr>
            <a:r>
              <a:rPr lang="ru-RU" sz="2000" dirty="0"/>
              <a:t>С 8 по 11 день выполняются работы 2-3, 3-5,4-5. Работа 2-3 с численностью 2 человека входит в зону интенсивной работы 5 день проекта и увеличение численности на ней приведет к превышению оптимизированной численности 17 человек, поэтому не рассматриваем.</a:t>
            </a:r>
          </a:p>
          <a:p>
            <a:pPr marL="0" indent="0">
              <a:buNone/>
            </a:pPr>
            <a:r>
              <a:rPr lang="ru-RU" sz="2000" dirty="0"/>
              <a:t> 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3332DFD-DF58-4383-A708-B5201DF6C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566417"/>
              </p:ext>
            </p:extLst>
          </p:nvPr>
        </p:nvGraphicFramePr>
        <p:xfrm>
          <a:off x="838200" y="2963334"/>
          <a:ext cx="10387048" cy="197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133">
                  <a:extLst>
                    <a:ext uri="{9D8B030D-6E8A-4147-A177-3AD203B41FA5}">
                      <a16:colId xmlns:a16="http://schemas.microsoft.com/office/drawing/2014/main" val="280872429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5854915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627961423"/>
                    </a:ext>
                  </a:extLst>
                </a:gridCol>
                <a:gridCol w="1557867">
                  <a:extLst>
                    <a:ext uri="{9D8B030D-6E8A-4147-A177-3AD203B41FA5}">
                      <a16:colId xmlns:a16="http://schemas.microsoft.com/office/drawing/2014/main" val="3528052409"/>
                    </a:ext>
                  </a:extLst>
                </a:gridCol>
                <a:gridCol w="2181437">
                  <a:extLst>
                    <a:ext uri="{9D8B030D-6E8A-4147-A177-3AD203B41FA5}">
                      <a16:colId xmlns:a16="http://schemas.microsoft.com/office/drawing/2014/main" val="2999259093"/>
                    </a:ext>
                  </a:extLst>
                </a:gridCol>
                <a:gridCol w="1728611">
                  <a:extLst>
                    <a:ext uri="{9D8B030D-6E8A-4147-A177-3AD203B41FA5}">
                      <a16:colId xmlns:a16="http://schemas.microsoft.com/office/drawing/2014/main" val="777843205"/>
                    </a:ext>
                  </a:extLst>
                </a:gridCol>
              </a:tblGrid>
              <a:tr h="600216">
                <a:tc rowSpan="2">
                  <a:txBody>
                    <a:bodyPr/>
                    <a:lstStyle/>
                    <a:p>
                      <a:r>
                        <a:rPr lang="ru-RU" dirty="0"/>
                        <a:t>Код работ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ru-RU" dirty="0"/>
                        <a:t>Трудоемкость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Проектные параметры</a:t>
                      </a:r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Оптимизированные параметры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638293"/>
                  </a:ext>
                </a:extLst>
              </a:tr>
              <a:tr h="600216">
                <a:tc vMerge="1">
                  <a:txBody>
                    <a:bodyPr/>
                    <a:lstStyle/>
                    <a:p>
                      <a:r>
                        <a:rPr lang="ru-RU" dirty="0"/>
                        <a:t>Код работ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ru-RU" dirty="0"/>
                        <a:t>Трудоемкость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Продолжительность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Численность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Продолжительность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Численность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14210"/>
                  </a:ext>
                </a:extLst>
              </a:tr>
              <a:tr h="347744">
                <a:tc>
                  <a:txBody>
                    <a:bodyPr/>
                    <a:lstStyle/>
                    <a:p>
                      <a:r>
                        <a:rPr lang="ru-RU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=6/6=1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803225"/>
                  </a:ext>
                </a:extLst>
              </a:tr>
              <a:tr h="347744">
                <a:tc>
                  <a:txBody>
                    <a:bodyPr/>
                    <a:lstStyle/>
                    <a:p>
                      <a:r>
                        <a:rPr lang="ru-RU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=10/11=1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67229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B950E5D-754D-4F31-B932-3B3894E0F981}"/>
              </a:ext>
            </a:extLst>
          </p:cNvPr>
          <p:cNvSpPr txBox="1"/>
          <p:nvPr/>
        </p:nvSpPr>
        <p:spPr>
          <a:xfrm>
            <a:off x="1464733" y="5458123"/>
            <a:ext cx="10134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На работе 4-5, которая выполняется параллельно с работой 3-5 можно добавить 17—6=11, чтобы оставить общую численность 17. Тогда продолжительность снизится на 1 день.</a:t>
            </a:r>
          </a:p>
          <a:p>
            <a:r>
              <a:rPr lang="ru-RU" dirty="0"/>
              <a:t>Таким образом общая продолжительность совокупности работ, лежащих на критическом пути </a:t>
            </a:r>
          </a:p>
          <a:p>
            <a:r>
              <a:rPr lang="ru-RU" dirty="0"/>
              <a:t>1-2-3-4 составит 4+4+1=9</a:t>
            </a:r>
          </a:p>
        </p:txBody>
      </p:sp>
    </p:spTree>
    <p:extLst>
      <p:ext uri="{BB962C8B-B14F-4D97-AF65-F5344CB8AC3E}">
        <p14:creationId xmlns:p14="http://schemas.microsoft.com/office/powerpoint/2010/main" val="31338108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0D6DD-0CA5-4C51-871C-091073A52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4931"/>
            <a:ext cx="1225973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Диаграмма занятости сотрудников с учетом оптимизации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947AD8E2-8FC4-4777-B0E4-D096D62F1E74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735540"/>
          <a:ext cx="10261597" cy="5884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498">
                  <a:extLst>
                    <a:ext uri="{9D8B030D-6E8A-4147-A177-3AD203B41FA5}">
                      <a16:colId xmlns:a16="http://schemas.microsoft.com/office/drawing/2014/main" val="3298122787"/>
                    </a:ext>
                  </a:extLst>
                </a:gridCol>
                <a:gridCol w="723769">
                  <a:extLst>
                    <a:ext uri="{9D8B030D-6E8A-4147-A177-3AD203B41FA5}">
                      <a16:colId xmlns:a16="http://schemas.microsoft.com/office/drawing/2014/main" val="207474986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552733856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619470510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243683762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215395676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4294102351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3154647496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83008373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2036539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3409320923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962707984"/>
                    </a:ext>
                  </a:extLst>
                </a:gridCol>
              </a:tblGrid>
              <a:tr h="397933">
                <a:tc rowSpan="2">
                  <a:txBody>
                    <a:bodyPr/>
                    <a:lstStyle/>
                    <a:p>
                      <a:r>
                        <a:rPr lang="ru-RU" dirty="0"/>
                        <a:t>Код работ</a:t>
                      </a:r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Дни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377491"/>
                  </a:ext>
                </a:extLst>
              </a:tr>
              <a:tr h="347004">
                <a:tc vMerge="1">
                  <a:txBody>
                    <a:bodyPr/>
                    <a:lstStyle/>
                    <a:p>
                      <a:r>
                        <a:rPr lang="ru-RU" dirty="0"/>
                        <a:t>Код работ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38392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86616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766289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22632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551863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017982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110328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013463"/>
                  </a:ext>
                </a:extLst>
              </a:tr>
              <a:tr h="347004">
                <a:tc gridSpan="1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Диаграмма распределения сотрудников по работам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90851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90612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429772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43301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113777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037144"/>
                  </a:ext>
                </a:extLst>
              </a:tr>
              <a:tr h="350358"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815891"/>
                  </a:ext>
                </a:extLst>
              </a:tr>
            </a:tbl>
          </a:graphicData>
        </a:graphic>
      </p:graphicFrame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FA27068-B25E-424C-8445-9148123A8FB1}"/>
              </a:ext>
            </a:extLst>
          </p:cNvPr>
          <p:cNvCxnSpPr/>
          <p:nvPr/>
        </p:nvCxnSpPr>
        <p:spPr>
          <a:xfrm>
            <a:off x="1481667" y="1686346"/>
            <a:ext cx="32850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A37F159-9909-4183-A591-E9A030B9BE57}"/>
              </a:ext>
            </a:extLst>
          </p:cNvPr>
          <p:cNvCxnSpPr>
            <a:cxnSpLocks/>
          </p:cNvCxnSpPr>
          <p:nvPr/>
        </p:nvCxnSpPr>
        <p:spPr>
          <a:xfrm>
            <a:off x="1481667" y="2101213"/>
            <a:ext cx="58504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BDE0882-F2F4-4294-A31F-0F5A0F65ADE1}"/>
              </a:ext>
            </a:extLst>
          </p:cNvPr>
          <p:cNvCxnSpPr>
            <a:cxnSpLocks/>
          </p:cNvCxnSpPr>
          <p:nvPr/>
        </p:nvCxnSpPr>
        <p:spPr>
          <a:xfrm>
            <a:off x="7332134" y="2085759"/>
            <a:ext cx="89746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F6FDFD78-583F-49B7-914A-1BD10F68427A}"/>
              </a:ext>
            </a:extLst>
          </p:cNvPr>
          <p:cNvCxnSpPr>
            <a:cxnSpLocks/>
          </p:cNvCxnSpPr>
          <p:nvPr/>
        </p:nvCxnSpPr>
        <p:spPr>
          <a:xfrm>
            <a:off x="1481667" y="2456813"/>
            <a:ext cx="4140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E852A52-6CA5-4ACB-8876-10C8AFA7E58E}"/>
              </a:ext>
            </a:extLst>
          </p:cNvPr>
          <p:cNvCxnSpPr>
            <a:cxnSpLocks/>
          </p:cNvCxnSpPr>
          <p:nvPr/>
        </p:nvCxnSpPr>
        <p:spPr>
          <a:xfrm>
            <a:off x="5621867" y="2441359"/>
            <a:ext cx="339513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8DD2DA4B-DA19-4454-A6CB-8CCFBD33E037}"/>
              </a:ext>
            </a:extLst>
          </p:cNvPr>
          <p:cNvCxnSpPr>
            <a:cxnSpLocks/>
          </p:cNvCxnSpPr>
          <p:nvPr/>
        </p:nvCxnSpPr>
        <p:spPr>
          <a:xfrm>
            <a:off x="7332134" y="3125680"/>
            <a:ext cx="168486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53AF8C2B-C2F4-4FCF-9573-1E6CC2A578E5}"/>
              </a:ext>
            </a:extLst>
          </p:cNvPr>
          <p:cNvCxnSpPr>
            <a:cxnSpLocks/>
          </p:cNvCxnSpPr>
          <p:nvPr/>
        </p:nvCxnSpPr>
        <p:spPr>
          <a:xfrm flipV="1">
            <a:off x="4766734" y="2777068"/>
            <a:ext cx="3445933" cy="1989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9694F452-C6F4-4F44-A461-B73B89BE0C89}"/>
              </a:ext>
            </a:extLst>
          </p:cNvPr>
          <p:cNvCxnSpPr>
            <a:cxnSpLocks/>
          </p:cNvCxnSpPr>
          <p:nvPr/>
        </p:nvCxnSpPr>
        <p:spPr>
          <a:xfrm>
            <a:off x="4766734" y="3125680"/>
            <a:ext cx="2565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BDB3F31A-F090-400C-964A-83959DCC1739}"/>
              </a:ext>
            </a:extLst>
          </p:cNvPr>
          <p:cNvCxnSpPr>
            <a:cxnSpLocks/>
          </p:cNvCxnSpPr>
          <p:nvPr/>
        </p:nvCxnSpPr>
        <p:spPr>
          <a:xfrm>
            <a:off x="8229601" y="3574413"/>
            <a:ext cx="85513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42F56A0A-578F-4197-A895-12415C7E940B}"/>
              </a:ext>
            </a:extLst>
          </p:cNvPr>
          <p:cNvCxnSpPr>
            <a:cxnSpLocks/>
          </p:cNvCxnSpPr>
          <p:nvPr/>
        </p:nvCxnSpPr>
        <p:spPr>
          <a:xfrm>
            <a:off x="7370234" y="3887680"/>
            <a:ext cx="8593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3127644E-B83E-4CA1-8DC5-B688223F1442}"/>
              </a:ext>
            </a:extLst>
          </p:cNvPr>
          <p:cNvCxnSpPr>
            <a:cxnSpLocks/>
          </p:cNvCxnSpPr>
          <p:nvPr/>
        </p:nvCxnSpPr>
        <p:spPr>
          <a:xfrm>
            <a:off x="4766734" y="1686346"/>
            <a:ext cx="0" cy="14393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A4E549DB-C47D-43DD-89C6-E08A5EE98275}"/>
              </a:ext>
            </a:extLst>
          </p:cNvPr>
          <p:cNvCxnSpPr>
            <a:cxnSpLocks/>
          </p:cNvCxnSpPr>
          <p:nvPr/>
        </p:nvCxnSpPr>
        <p:spPr>
          <a:xfrm>
            <a:off x="8221135" y="2101213"/>
            <a:ext cx="0" cy="14393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4E9FAC06-4B94-4C99-8ED9-892242F5B7FB}"/>
              </a:ext>
            </a:extLst>
          </p:cNvPr>
          <p:cNvCxnSpPr>
            <a:cxnSpLocks/>
          </p:cNvCxnSpPr>
          <p:nvPr/>
        </p:nvCxnSpPr>
        <p:spPr>
          <a:xfrm>
            <a:off x="7332134" y="2135079"/>
            <a:ext cx="0" cy="175260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7F760FE7-56AD-4BE5-A794-C3CC7CFDD0E2}"/>
              </a:ext>
            </a:extLst>
          </p:cNvPr>
          <p:cNvGrpSpPr/>
          <p:nvPr/>
        </p:nvGrpSpPr>
        <p:grpSpPr>
          <a:xfrm>
            <a:off x="1502833" y="5423569"/>
            <a:ext cx="7514163" cy="1200332"/>
            <a:chOff x="1502833" y="5423569"/>
            <a:chExt cx="7514163" cy="1200332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F8C56E7E-735C-4318-B9B3-AF87183664B7}"/>
                </a:ext>
              </a:extLst>
            </p:cNvPr>
            <p:cNvSpPr/>
            <p:nvPr/>
          </p:nvSpPr>
          <p:spPr>
            <a:xfrm>
              <a:off x="1502833" y="5483847"/>
              <a:ext cx="3285059" cy="113602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BDA39A94-F202-4A87-94DA-B95ADED6B218}"/>
                </a:ext>
              </a:extLst>
            </p:cNvPr>
            <p:cNvSpPr/>
            <p:nvPr/>
          </p:nvSpPr>
          <p:spPr>
            <a:xfrm>
              <a:off x="4766726" y="5423572"/>
              <a:ext cx="855138" cy="12003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D6A4E1C-35E3-4A22-9147-D3D8C5BB5080}"/>
                </a:ext>
              </a:extLst>
            </p:cNvPr>
            <p:cNvSpPr/>
            <p:nvPr/>
          </p:nvSpPr>
          <p:spPr>
            <a:xfrm>
              <a:off x="5621862" y="5511799"/>
              <a:ext cx="1710269" cy="11120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19CEE9E6-AEBF-485B-9187-9B03885B73E4}"/>
                </a:ext>
              </a:extLst>
            </p:cNvPr>
            <p:cNvSpPr/>
            <p:nvPr/>
          </p:nvSpPr>
          <p:spPr>
            <a:xfrm>
              <a:off x="7332130" y="5423569"/>
              <a:ext cx="1684866" cy="12003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582098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18149" y="0"/>
            <a:ext cx="12687300" cy="739056"/>
          </a:xfrm>
        </p:spPr>
        <p:txBody>
          <a:bodyPr>
            <a:noAutofit/>
          </a:bodyPr>
          <a:lstStyle/>
          <a:p>
            <a:pPr algn="ctr"/>
            <a:r>
              <a:rPr lang="ru-RU" sz="2400" dirty="0">
                <a:solidFill>
                  <a:srgbClr val="002060"/>
                </a:solidFill>
                <a:latin typeface="Raleway Black"/>
              </a:rPr>
              <a:t>Шаблон работ сетевого графика ТР-2 тепловоза серии 2ТЭ116.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726438"/>
              </p:ext>
            </p:extLst>
          </p:nvPr>
        </p:nvGraphicFramePr>
        <p:xfrm>
          <a:off x="360484" y="668718"/>
          <a:ext cx="11530034" cy="6093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893">
                  <a:extLst>
                    <a:ext uri="{9D8B030D-6E8A-4147-A177-3AD203B41FA5}">
                      <a16:colId xmlns:a16="http://schemas.microsoft.com/office/drawing/2014/main" val="2267539001"/>
                    </a:ext>
                  </a:extLst>
                </a:gridCol>
                <a:gridCol w="720969">
                  <a:extLst>
                    <a:ext uri="{9D8B030D-6E8A-4147-A177-3AD203B41FA5}">
                      <a16:colId xmlns:a16="http://schemas.microsoft.com/office/drawing/2014/main" val="3125904243"/>
                    </a:ext>
                  </a:extLst>
                </a:gridCol>
                <a:gridCol w="6420965">
                  <a:extLst>
                    <a:ext uri="{9D8B030D-6E8A-4147-A177-3AD203B41FA5}">
                      <a16:colId xmlns:a16="http://schemas.microsoft.com/office/drawing/2014/main" val="1108539731"/>
                    </a:ext>
                  </a:extLst>
                </a:gridCol>
                <a:gridCol w="3579207">
                  <a:extLst>
                    <a:ext uri="{9D8B030D-6E8A-4147-A177-3AD203B41FA5}">
                      <a16:colId xmlns:a16="http://schemas.microsoft.com/office/drawing/2014/main" val="3381124536"/>
                    </a:ext>
                  </a:extLst>
                </a:gridCol>
              </a:tblGrid>
              <a:tr h="342892"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Начало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Конец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Содержание работы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Норма времени Т,</a:t>
                      </a:r>
                      <a:r>
                        <a:rPr lang="ru-RU" sz="1500" baseline="0" dirty="0"/>
                        <a:t> норма ч</a:t>
                      </a:r>
                      <a:endParaRPr lang="ru-RU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460364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Проверка оборудования до ремонта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4,68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080838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 вспомогательного оборудования</a:t>
                      </a:r>
                      <a:r>
                        <a:rPr lang="ru-RU" sz="1200" baseline="0" dirty="0"/>
                        <a:t> 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8,37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587652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 тормозного оборудования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1,19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402914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Демонтаж, ремонт, монтаж</a:t>
                      </a:r>
                      <a:r>
                        <a:rPr lang="ru-RU" sz="1200" baseline="0" dirty="0"/>
                        <a:t> механического оборудования 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29,338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642686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Демонтаж, ремонт, монтаж электрооборудования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19,71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992899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Демонтаж, ремонт, монтаж контрольно-измерительных приборов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9,908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85957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вспомогательного оборудования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14,81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190767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 топливной</a:t>
                      </a:r>
                      <a:r>
                        <a:rPr lang="ru-RU" sz="1200" baseline="0" dirty="0"/>
                        <a:t> аппаратуры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6,08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258086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 дизельной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24,32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629782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тормозного</a:t>
                      </a:r>
                      <a:r>
                        <a:rPr lang="ru-RU" sz="1200" baseline="0" dirty="0"/>
                        <a:t> оборудования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19,89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132061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электрических машин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7,32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611503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дизельной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40,07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629886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Ремонт, регулировка топливной аппаратуры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737143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цилиндро-поршневой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102,72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466675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Монтаж тормозного оборудования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1,77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07350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Монтаж дизельной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43,86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389818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Монтаж топливной аппаратуры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9,44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130668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Монтаж вспомогательной</a:t>
                      </a:r>
                      <a:r>
                        <a:rPr lang="ru-RU" sz="1200" baseline="0" dirty="0"/>
                        <a:t> аппаратуры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214434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Проверка, регулировка оборудования после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17,11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178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2856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405442" y="0"/>
            <a:ext cx="13051767" cy="750498"/>
          </a:xfrm>
        </p:spPr>
        <p:txBody>
          <a:bodyPr>
            <a:normAutofit/>
          </a:bodyPr>
          <a:lstStyle/>
          <a:p>
            <a:pPr algn="ctr"/>
            <a:r>
              <a:rPr lang="ru-RU" sz="1900" dirty="0">
                <a:solidFill>
                  <a:srgbClr val="002060"/>
                </a:solidFill>
                <a:latin typeface="Raleway Black"/>
              </a:rPr>
              <a:t>ТАБЛИЦА 2. Определитель работ сетевого графика « текущий ремонт ТР-2 тепловоза серии 2ТЭ116».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1430931"/>
              </p:ext>
            </p:extLst>
          </p:nvPr>
        </p:nvGraphicFramePr>
        <p:xfrm>
          <a:off x="158263" y="585272"/>
          <a:ext cx="11946422" cy="6176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619">
                  <a:extLst>
                    <a:ext uri="{9D8B030D-6E8A-4147-A177-3AD203B41FA5}">
                      <a16:colId xmlns:a16="http://schemas.microsoft.com/office/drawing/2014/main" val="2043193664"/>
                    </a:ext>
                  </a:extLst>
                </a:gridCol>
                <a:gridCol w="4609769">
                  <a:extLst>
                    <a:ext uri="{9D8B030D-6E8A-4147-A177-3AD203B41FA5}">
                      <a16:colId xmlns:a16="http://schemas.microsoft.com/office/drawing/2014/main" val="1603024831"/>
                    </a:ext>
                  </a:extLst>
                </a:gridCol>
                <a:gridCol w="2483121">
                  <a:extLst>
                    <a:ext uri="{9D8B030D-6E8A-4147-A177-3AD203B41FA5}">
                      <a16:colId xmlns:a16="http://schemas.microsoft.com/office/drawing/2014/main" val="3847246167"/>
                    </a:ext>
                  </a:extLst>
                </a:gridCol>
                <a:gridCol w="656254">
                  <a:extLst>
                    <a:ext uri="{9D8B030D-6E8A-4147-A177-3AD203B41FA5}">
                      <a16:colId xmlns:a16="http://schemas.microsoft.com/office/drawing/2014/main" val="2020785469"/>
                    </a:ext>
                  </a:extLst>
                </a:gridCol>
                <a:gridCol w="771541">
                  <a:extLst>
                    <a:ext uri="{9D8B030D-6E8A-4147-A177-3AD203B41FA5}">
                      <a16:colId xmlns:a16="http://schemas.microsoft.com/office/drawing/2014/main" val="3537957797"/>
                    </a:ext>
                  </a:extLst>
                </a:gridCol>
                <a:gridCol w="753804">
                  <a:extLst>
                    <a:ext uri="{9D8B030D-6E8A-4147-A177-3AD203B41FA5}">
                      <a16:colId xmlns:a16="http://schemas.microsoft.com/office/drawing/2014/main" val="2426891283"/>
                    </a:ext>
                  </a:extLst>
                </a:gridCol>
                <a:gridCol w="762672">
                  <a:extLst>
                    <a:ext uri="{9D8B030D-6E8A-4147-A177-3AD203B41FA5}">
                      <a16:colId xmlns:a16="http://schemas.microsoft.com/office/drawing/2014/main" val="4137480457"/>
                    </a:ext>
                  </a:extLst>
                </a:gridCol>
                <a:gridCol w="1008642">
                  <a:extLst>
                    <a:ext uri="{9D8B030D-6E8A-4147-A177-3AD203B41FA5}">
                      <a16:colId xmlns:a16="http://schemas.microsoft.com/office/drawing/2014/main" val="4048372322"/>
                    </a:ext>
                  </a:extLst>
                </a:gridCol>
              </a:tblGrid>
              <a:tr h="321996"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Работа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dirty="0"/>
                        <a:t>Проверка оборудования до ремонта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Норма времени Т, норма-ч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Т</a:t>
                      </a:r>
                      <a:r>
                        <a:rPr lang="ru-RU" sz="1500" baseline="0" dirty="0"/>
                        <a:t> </a:t>
                      </a:r>
                      <a:r>
                        <a:rPr lang="ru-RU" sz="1500" baseline="0" dirty="0" err="1"/>
                        <a:t>р.н</a:t>
                      </a:r>
                      <a:endParaRPr lang="ru-RU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Т </a:t>
                      </a:r>
                      <a:r>
                        <a:rPr lang="ru-RU" sz="1500" dirty="0" err="1"/>
                        <a:t>п.н</a:t>
                      </a:r>
                      <a:endParaRPr lang="ru-RU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Т </a:t>
                      </a:r>
                      <a:r>
                        <a:rPr lang="ru-RU" sz="1500" dirty="0" err="1"/>
                        <a:t>р.о</a:t>
                      </a:r>
                      <a:endParaRPr lang="ru-RU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Т </a:t>
                      </a:r>
                      <a:r>
                        <a:rPr lang="ru-RU" sz="1500" dirty="0" err="1"/>
                        <a:t>п.о</a:t>
                      </a:r>
                      <a:endParaRPr lang="ru-RU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Резерв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249822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0</a:t>
                      </a:r>
                      <a:r>
                        <a:rPr lang="ru-RU" sz="1200" baseline="0" dirty="0"/>
                        <a:t>-1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 вспомогательного оборудования</a:t>
                      </a:r>
                      <a:r>
                        <a:rPr lang="ru-RU" sz="1200" baseline="0" dirty="0"/>
                        <a:t> 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80954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 тормозного оборудования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8,37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873236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Демонтаж, ремонт, монтаж</a:t>
                      </a:r>
                      <a:r>
                        <a:rPr lang="ru-RU" sz="1200" baseline="0" dirty="0"/>
                        <a:t> механического оборудования 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1,19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221,442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5,87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222,632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216,762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494035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Демонтаж, ремонт, монтаж электрооборудования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29,338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5,87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22,632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35,808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216,762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290581"/>
                  </a:ext>
                </a:extLst>
              </a:tr>
              <a:tr h="307100">
                <a:tc>
                  <a:txBody>
                    <a:bodyPr/>
                    <a:lstStyle/>
                    <a:p>
                      <a:r>
                        <a:rPr lang="ru-RU" sz="1200" dirty="0"/>
                        <a:t>2-5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Демонтаж, ремонт, монтаж контрольно-измерительных приборов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19,71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225,54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32,76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245,25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212,49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14917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2-6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вспомогательного оборудования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9,908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242,662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229,612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437362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2-7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 топливной</a:t>
                      </a:r>
                      <a:r>
                        <a:rPr lang="ru-RU" sz="1200" baseline="0" dirty="0"/>
                        <a:t> аппаратуры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14,81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237,76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27,86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224,71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733800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2-8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 дизельной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736897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8-9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тормозного</a:t>
                      </a:r>
                      <a:r>
                        <a:rPr lang="ru-RU" sz="1200" baseline="0" dirty="0"/>
                        <a:t> оборудования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24,32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43,45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43,45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186813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3-10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электрических машин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19,89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5,87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230,91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225,04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442976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5-11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дизельной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7,32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32,76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245,25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40,08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212,49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752663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9-12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Ремонт, регулировка топливной аппаратуры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40,07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43,45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83,52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83,52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543012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цилиндро-поршневой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83,52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132,52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97,58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457371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12-14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Монтаж тормозного оборудования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102,72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83,52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83,52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186,24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186,24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629460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Монтаж дизельной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1,77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27,53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225,04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627791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14-16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Монтаж топливной аппаратуры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43,86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186,24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186,24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920013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16-17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Монтаж вспомогательной</a:t>
                      </a:r>
                      <a:r>
                        <a:rPr lang="ru-RU" sz="1200" baseline="0" dirty="0"/>
                        <a:t> аппаратуры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9,44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259,54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239,54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797954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17-18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Проверка, регулировка оборудования после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239,54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239,54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911713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18-19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Проверка оборудования до ремонта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17,11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269,68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269,68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394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8285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188352" y="2329129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Овал 9"/>
          <p:cNvSpPr/>
          <p:nvPr/>
        </p:nvSpPr>
        <p:spPr>
          <a:xfrm>
            <a:off x="1058179" y="2329129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Овал 10"/>
          <p:cNvSpPr/>
          <p:nvPr/>
        </p:nvSpPr>
        <p:spPr>
          <a:xfrm>
            <a:off x="1928007" y="2311876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Овал 11"/>
          <p:cNvSpPr/>
          <p:nvPr/>
        </p:nvSpPr>
        <p:spPr>
          <a:xfrm>
            <a:off x="3887646" y="231043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68181" y="231043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07111" y="231043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5" name="Овал 14"/>
          <p:cNvSpPr/>
          <p:nvPr/>
        </p:nvSpPr>
        <p:spPr>
          <a:xfrm>
            <a:off x="6331811" y="3145765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6" name="Овал 15"/>
          <p:cNvSpPr/>
          <p:nvPr/>
        </p:nvSpPr>
        <p:spPr>
          <a:xfrm>
            <a:off x="6331811" y="173246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7" name="Овал 16"/>
          <p:cNvSpPr/>
          <p:nvPr/>
        </p:nvSpPr>
        <p:spPr>
          <a:xfrm>
            <a:off x="10230911" y="1723124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8" name="Овал 17"/>
          <p:cNvSpPr/>
          <p:nvPr/>
        </p:nvSpPr>
        <p:spPr>
          <a:xfrm>
            <a:off x="9256136" y="173246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9" name="Овал 18"/>
          <p:cNvSpPr/>
          <p:nvPr/>
        </p:nvSpPr>
        <p:spPr>
          <a:xfrm>
            <a:off x="8281361" y="173246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20" name="Овал 19"/>
          <p:cNvSpPr/>
          <p:nvPr/>
        </p:nvSpPr>
        <p:spPr>
          <a:xfrm>
            <a:off x="7306586" y="173246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21" name="Овал 20"/>
          <p:cNvSpPr/>
          <p:nvPr/>
        </p:nvSpPr>
        <p:spPr>
          <a:xfrm>
            <a:off x="1928007" y="115449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Овал 21"/>
          <p:cNvSpPr/>
          <p:nvPr/>
        </p:nvSpPr>
        <p:spPr>
          <a:xfrm>
            <a:off x="2902782" y="115449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3" name="Овал 22"/>
          <p:cNvSpPr/>
          <p:nvPr/>
        </p:nvSpPr>
        <p:spPr>
          <a:xfrm>
            <a:off x="2902782" y="14664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4" name="Овал 23"/>
          <p:cNvSpPr/>
          <p:nvPr/>
        </p:nvSpPr>
        <p:spPr>
          <a:xfrm>
            <a:off x="3887645" y="14664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25" name="Овал 24"/>
          <p:cNvSpPr/>
          <p:nvPr/>
        </p:nvSpPr>
        <p:spPr>
          <a:xfrm>
            <a:off x="2902781" y="3145765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6" name="Овал 25"/>
          <p:cNvSpPr/>
          <p:nvPr/>
        </p:nvSpPr>
        <p:spPr>
          <a:xfrm>
            <a:off x="2902780" y="5178713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Овал 26"/>
          <p:cNvSpPr/>
          <p:nvPr/>
        </p:nvSpPr>
        <p:spPr>
          <a:xfrm>
            <a:off x="2902780" y="4162239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8" name="Овал 27"/>
          <p:cNvSpPr/>
          <p:nvPr/>
        </p:nvSpPr>
        <p:spPr>
          <a:xfrm>
            <a:off x="3887645" y="4162239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11</a:t>
            </a:r>
          </a:p>
        </p:txBody>
      </p:sp>
      <p:cxnSp>
        <p:nvCxnSpPr>
          <p:cNvPr id="30" name="Прямая со стрелкой 29"/>
          <p:cNvCxnSpPr>
            <a:stCxn id="9" idx="6"/>
            <a:endCxn id="10" idx="2"/>
          </p:cNvCxnSpPr>
          <p:nvPr/>
        </p:nvCxnSpPr>
        <p:spPr>
          <a:xfrm>
            <a:off x="792201" y="2618114"/>
            <a:ext cx="265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10" idx="6"/>
            <a:endCxn id="11" idx="2"/>
          </p:cNvCxnSpPr>
          <p:nvPr/>
        </p:nvCxnSpPr>
        <p:spPr>
          <a:xfrm flipV="1">
            <a:off x="1662028" y="2600861"/>
            <a:ext cx="265979" cy="172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stCxn id="11" idx="6"/>
            <a:endCxn id="14" idx="2"/>
          </p:cNvCxnSpPr>
          <p:nvPr/>
        </p:nvCxnSpPr>
        <p:spPr>
          <a:xfrm flipV="1">
            <a:off x="2531856" y="2599423"/>
            <a:ext cx="375255" cy="1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stCxn id="14" idx="6"/>
            <a:endCxn id="12" idx="2"/>
          </p:cNvCxnSpPr>
          <p:nvPr/>
        </p:nvCxnSpPr>
        <p:spPr>
          <a:xfrm>
            <a:off x="3510960" y="2599423"/>
            <a:ext cx="3766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>
            <a:stCxn id="12" idx="6"/>
            <a:endCxn id="13" idx="2"/>
          </p:cNvCxnSpPr>
          <p:nvPr/>
        </p:nvCxnSpPr>
        <p:spPr>
          <a:xfrm>
            <a:off x="4491495" y="2599423"/>
            <a:ext cx="3766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/>
          <p:cNvCxnSpPr>
            <a:stCxn id="13" idx="6"/>
            <a:endCxn id="16" idx="2"/>
          </p:cNvCxnSpPr>
          <p:nvPr/>
        </p:nvCxnSpPr>
        <p:spPr>
          <a:xfrm flipV="1">
            <a:off x="5472030" y="2021453"/>
            <a:ext cx="859781" cy="577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>
            <a:stCxn id="13" idx="6"/>
            <a:endCxn id="15" idx="2"/>
          </p:cNvCxnSpPr>
          <p:nvPr/>
        </p:nvCxnSpPr>
        <p:spPr>
          <a:xfrm>
            <a:off x="5472030" y="2599423"/>
            <a:ext cx="859781" cy="835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/>
          <p:cNvCxnSpPr>
            <a:stCxn id="10" idx="0"/>
            <a:endCxn id="21" idx="3"/>
          </p:cNvCxnSpPr>
          <p:nvPr/>
        </p:nvCxnSpPr>
        <p:spPr>
          <a:xfrm flipV="1">
            <a:off x="1360104" y="1647826"/>
            <a:ext cx="656335" cy="6813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>
            <a:stCxn id="21" idx="6"/>
            <a:endCxn id="22" idx="2"/>
          </p:cNvCxnSpPr>
          <p:nvPr/>
        </p:nvCxnSpPr>
        <p:spPr>
          <a:xfrm>
            <a:off x="2531856" y="1443483"/>
            <a:ext cx="3709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>
            <a:stCxn id="21" idx="7"/>
            <a:endCxn id="23" idx="3"/>
          </p:cNvCxnSpPr>
          <p:nvPr/>
        </p:nvCxnSpPr>
        <p:spPr>
          <a:xfrm flipV="1">
            <a:off x="2443424" y="639976"/>
            <a:ext cx="547790" cy="599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>
            <a:stCxn id="16" idx="6"/>
            <a:endCxn id="20" idx="2"/>
          </p:cNvCxnSpPr>
          <p:nvPr/>
        </p:nvCxnSpPr>
        <p:spPr>
          <a:xfrm>
            <a:off x="6935660" y="2021453"/>
            <a:ext cx="3709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/>
          <p:cNvCxnSpPr>
            <a:stCxn id="20" idx="6"/>
            <a:endCxn id="19" idx="2"/>
          </p:cNvCxnSpPr>
          <p:nvPr/>
        </p:nvCxnSpPr>
        <p:spPr>
          <a:xfrm>
            <a:off x="7910435" y="2021453"/>
            <a:ext cx="3709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stCxn id="19" idx="6"/>
            <a:endCxn id="18" idx="2"/>
          </p:cNvCxnSpPr>
          <p:nvPr/>
        </p:nvCxnSpPr>
        <p:spPr>
          <a:xfrm>
            <a:off x="8885210" y="2021453"/>
            <a:ext cx="3709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/>
          <p:cNvCxnSpPr>
            <a:stCxn id="18" idx="6"/>
            <a:endCxn id="17" idx="2"/>
          </p:cNvCxnSpPr>
          <p:nvPr/>
        </p:nvCxnSpPr>
        <p:spPr>
          <a:xfrm flipV="1">
            <a:off x="9859985" y="2012109"/>
            <a:ext cx="370926" cy="93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/>
          <p:cNvCxnSpPr>
            <a:stCxn id="23" idx="6"/>
            <a:endCxn id="24" idx="2"/>
          </p:cNvCxnSpPr>
          <p:nvPr/>
        </p:nvCxnSpPr>
        <p:spPr>
          <a:xfrm>
            <a:off x="3506631" y="435633"/>
            <a:ext cx="3810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/>
          <p:cNvCxnSpPr>
            <a:stCxn id="11" idx="4"/>
            <a:endCxn id="25" idx="2"/>
          </p:cNvCxnSpPr>
          <p:nvPr/>
        </p:nvCxnSpPr>
        <p:spPr>
          <a:xfrm>
            <a:off x="2229932" y="2889846"/>
            <a:ext cx="672849" cy="5449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/>
          <p:cNvCxnSpPr>
            <a:stCxn id="11" idx="4"/>
            <a:endCxn id="27" idx="2"/>
          </p:cNvCxnSpPr>
          <p:nvPr/>
        </p:nvCxnSpPr>
        <p:spPr>
          <a:xfrm>
            <a:off x="2229932" y="2889846"/>
            <a:ext cx="672848" cy="15613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64"/>
          <p:cNvCxnSpPr>
            <a:stCxn id="11" idx="4"/>
            <a:endCxn id="26" idx="2"/>
          </p:cNvCxnSpPr>
          <p:nvPr/>
        </p:nvCxnSpPr>
        <p:spPr>
          <a:xfrm>
            <a:off x="2229932" y="2889846"/>
            <a:ext cx="672848" cy="25778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/>
          <p:cNvCxnSpPr>
            <a:stCxn id="27" idx="6"/>
            <a:endCxn id="28" idx="2"/>
          </p:cNvCxnSpPr>
          <p:nvPr/>
        </p:nvCxnSpPr>
        <p:spPr>
          <a:xfrm>
            <a:off x="3506629" y="4451224"/>
            <a:ext cx="381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Соединительная линия уступом 68"/>
          <p:cNvCxnSpPr>
            <a:stCxn id="24" idx="6"/>
            <a:endCxn id="18" idx="0"/>
          </p:cNvCxnSpPr>
          <p:nvPr/>
        </p:nvCxnSpPr>
        <p:spPr>
          <a:xfrm>
            <a:off x="4491494" y="435633"/>
            <a:ext cx="5066567" cy="1296835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Соединительная линия уступом 70"/>
          <p:cNvCxnSpPr>
            <a:stCxn id="22" idx="6"/>
            <a:endCxn id="18" idx="1"/>
          </p:cNvCxnSpPr>
          <p:nvPr/>
        </p:nvCxnSpPr>
        <p:spPr>
          <a:xfrm>
            <a:off x="3506631" y="1443483"/>
            <a:ext cx="5837937" cy="373627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Прямая со стрелкой 72"/>
          <p:cNvCxnSpPr>
            <a:stCxn id="15" idx="7"/>
            <a:endCxn id="20" idx="4"/>
          </p:cNvCxnSpPr>
          <p:nvPr/>
        </p:nvCxnSpPr>
        <p:spPr>
          <a:xfrm flipV="1">
            <a:off x="6847228" y="2310438"/>
            <a:ext cx="761283" cy="91996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Соединительная линия уступом 76"/>
          <p:cNvCxnSpPr>
            <a:stCxn id="28" idx="6"/>
            <a:endCxn id="18" idx="4"/>
          </p:cNvCxnSpPr>
          <p:nvPr/>
        </p:nvCxnSpPr>
        <p:spPr>
          <a:xfrm flipV="1">
            <a:off x="4491494" y="2310438"/>
            <a:ext cx="5066567" cy="2140786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Соединительная линия уступом 78"/>
          <p:cNvCxnSpPr>
            <a:stCxn id="26" idx="6"/>
            <a:endCxn id="18" idx="5"/>
          </p:cNvCxnSpPr>
          <p:nvPr/>
        </p:nvCxnSpPr>
        <p:spPr>
          <a:xfrm flipV="1">
            <a:off x="3506629" y="2225796"/>
            <a:ext cx="6264924" cy="3241902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/>
          <p:cNvCxnSpPr>
            <a:stCxn id="25" idx="6"/>
          </p:cNvCxnSpPr>
          <p:nvPr/>
        </p:nvCxnSpPr>
        <p:spPr>
          <a:xfrm>
            <a:off x="3506630" y="3434750"/>
            <a:ext cx="3083951" cy="62829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/>
          <p:cNvCxnSpPr>
            <a:endCxn id="18" idx="3"/>
          </p:cNvCxnSpPr>
          <p:nvPr/>
        </p:nvCxnSpPr>
        <p:spPr>
          <a:xfrm flipV="1">
            <a:off x="6590581" y="2225796"/>
            <a:ext cx="2753987" cy="184587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06523" y="5961026"/>
            <a:ext cx="65515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Сетевой график текущего ремонта ТР-2 тепловоза серии 2ТЭ116.</a:t>
            </a:r>
          </a:p>
          <a:p>
            <a:pPr algn="ctr"/>
            <a:r>
              <a:rPr lang="ru-RU" dirty="0"/>
              <a:t>Продолжительность критического пути 269,68ч. </a:t>
            </a:r>
          </a:p>
        </p:txBody>
      </p:sp>
    </p:spTree>
    <p:extLst>
      <p:ext uri="{BB962C8B-B14F-4D97-AF65-F5344CB8AC3E}">
        <p14:creationId xmlns:p14="http://schemas.microsoft.com/office/powerpoint/2010/main" val="12923995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11233</TotalTime>
  <Words>4021</Words>
  <Application>Microsoft Office PowerPoint</Application>
  <PresentationFormat>Широкоэкранный</PresentationFormat>
  <Paragraphs>917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Raleway Black</vt:lpstr>
      <vt:lpstr>Wingdings</vt:lpstr>
      <vt:lpstr>Тема Office</vt:lpstr>
      <vt:lpstr>Сетевое планирование и управление КСГ</vt:lpstr>
      <vt:lpstr>Термины и определения</vt:lpstr>
      <vt:lpstr>Термины и определения</vt:lpstr>
      <vt:lpstr>Система сетевого планирования и управления</vt:lpstr>
      <vt:lpstr>Система сетевого планирования и управления</vt:lpstr>
      <vt:lpstr>Диаграмма Ганта (календарный график) </vt:lpstr>
      <vt:lpstr>Виды сетевых моделей (графиков)</vt:lpstr>
      <vt:lpstr>Элементы сетевых графиков</vt:lpstr>
      <vt:lpstr>Использование фиктивных работ</vt:lpstr>
      <vt:lpstr>Элементы сетевых графиков</vt:lpstr>
      <vt:lpstr>Элементы сетевых графиков</vt:lpstr>
      <vt:lpstr>Правила построения сетевых графиков</vt:lpstr>
      <vt:lpstr>Правила построения сетевых графиков</vt:lpstr>
      <vt:lpstr>Исходная информация для разработки сетевого графика</vt:lpstr>
      <vt:lpstr>Процесс построения сетевых графиков</vt:lpstr>
      <vt:lpstr>Расчет параметров сетевой модели</vt:lpstr>
      <vt:lpstr>Расчет параметров сетевой модели: для полных путей сетевого графика (вариант А)</vt:lpstr>
      <vt:lpstr>Презентация PowerPoint</vt:lpstr>
      <vt:lpstr>Критический путь сетевого графика и резервы времени </vt:lpstr>
      <vt:lpstr>Расчет резервов времени путей</vt:lpstr>
      <vt:lpstr>Расчет параметров сетевой модели (вариант В): ранние сроки</vt:lpstr>
      <vt:lpstr>Презентация PowerPoint</vt:lpstr>
      <vt:lpstr>Расчет параметров сетевой модели: поздние сроки</vt:lpstr>
      <vt:lpstr>Презентация PowerPoint</vt:lpstr>
      <vt:lpstr>Презентация PowerPoint</vt:lpstr>
      <vt:lpstr>Презентация PowerPoint</vt:lpstr>
      <vt:lpstr>Презентация PowerPoint</vt:lpstr>
      <vt:lpstr>График Ганта</vt:lpstr>
      <vt:lpstr>Трудозатраты на выполнение работ</vt:lpstr>
      <vt:lpstr>Диаграмма занятости сотрудников</vt:lpstr>
      <vt:lpstr>Оптимизация занятости сотрудников</vt:lpstr>
      <vt:lpstr>Оптимальное число сотрудников при сохранении продолжительности выполнения работ</vt:lpstr>
      <vt:lpstr>Оптимизация числа сотрудников</vt:lpstr>
      <vt:lpstr>Оптимизация продолжительности проекта</vt:lpstr>
      <vt:lpstr>Диаграмма занятости сотрудников с учетом оптимизации</vt:lpstr>
      <vt:lpstr>Шаблон работ сетевого графика ТР-2 тепловоза серии 2ТЭ116.</vt:lpstr>
      <vt:lpstr>ТАБЛИЦА 2. Определитель работ сетевого графика « текущий ремонт ТР-2 тепловоза серии 2ТЭ116».</vt:lpstr>
      <vt:lpstr>Презентация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Ефимова Ольга Владимировна</dc:creator>
  <cp:lastModifiedBy>user4</cp:lastModifiedBy>
  <cp:revision>170</cp:revision>
  <cp:lastPrinted>2026-04-22T07:58:43Z</cp:lastPrinted>
  <dcterms:created xsi:type="dcterms:W3CDTF">2025-11-21T10:02:21Z</dcterms:created>
  <dcterms:modified xsi:type="dcterms:W3CDTF">2026-04-22T09:43:06Z</dcterms:modified>
</cp:coreProperties>
</file>